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147470489" r:id="rId2"/>
    <p:sldId id="2147470492" r:id="rId3"/>
    <p:sldId id="2147470513" r:id="rId4"/>
    <p:sldId id="2147470493" r:id="rId5"/>
    <p:sldId id="2147470494" r:id="rId6"/>
    <p:sldId id="2147470495" r:id="rId7"/>
    <p:sldId id="2147470514" r:id="rId8"/>
    <p:sldId id="2147470496" r:id="rId9"/>
    <p:sldId id="2147470515" r:id="rId10"/>
    <p:sldId id="2147470491" r:id="rId11"/>
    <p:sldId id="2147470498" r:id="rId12"/>
    <p:sldId id="2147470499" r:id="rId13"/>
    <p:sldId id="2147470487" r:id="rId14"/>
    <p:sldId id="2147470500" r:id="rId15"/>
    <p:sldId id="2147470502" r:id="rId16"/>
    <p:sldId id="2147470503" r:id="rId17"/>
    <p:sldId id="2147470504" r:id="rId18"/>
    <p:sldId id="2147470505" r:id="rId19"/>
    <p:sldId id="2147470506" r:id="rId20"/>
    <p:sldId id="2147470507" r:id="rId21"/>
    <p:sldId id="2147470508" r:id="rId22"/>
    <p:sldId id="2147470512" r:id="rId23"/>
    <p:sldId id="2147470516" r:id="rId24"/>
    <p:sldId id="2147470517" r:id="rId25"/>
    <p:sldId id="2147470518" r:id="rId26"/>
    <p:sldId id="2147470519" r:id="rId27"/>
    <p:sldId id="2147470520" r:id="rId28"/>
    <p:sldId id="2147470521" r:id="rId29"/>
    <p:sldId id="214747052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–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114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60B790-8D2F-4544-8928-1D7055726C26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105EC8-E697-4A7F-A75B-86F3250470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8473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105EC8-E697-4A7F-A75B-86F3250470C9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70908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3920E-A3B4-42D4-9082-C3FA8BCBB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4E70F-2546-1B64-F59A-0C7EBAB9AE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38BDB-A001-C056-AFA2-F000A721D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AD497-8A3A-2CB5-739C-7A67276FE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105EC8-E697-4A7F-A75B-86F3250470C9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1530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105EC8-E697-4A7F-A75B-86F3250470C9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104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1"/>
            <a:ext cx="12254538" cy="6898126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11581" y="-33286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3333528" y="1077021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579434" y="1257830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692746" y="1543866"/>
            <a:ext cx="1080650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Project Title 1: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algn="ctr">
              <a:defRPr/>
            </a:pPr>
            <a:r>
              <a:rPr lang="en-US" sz="3600" dirty="0" err="1">
                <a:solidFill>
                  <a:schemeClr val="bg1"/>
                </a:solidFill>
              </a:rPr>
              <a:t>AeroHydro</a:t>
            </a:r>
            <a:r>
              <a:rPr lang="en-US" sz="3600" dirty="0">
                <a:solidFill>
                  <a:schemeClr val="bg1"/>
                </a:solidFill>
              </a:rPr>
              <a:t>-PINN Multimodal Physics-AI for Wake-Aware Hydrogen Optimization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6239435"/>
              </p:ext>
            </p:extLst>
          </p:nvPr>
        </p:nvGraphicFramePr>
        <p:xfrm>
          <a:off x="-31269" y="5587473"/>
          <a:ext cx="12239218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9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9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2D97BB-0C1D-29FE-D3EF-19076FEDD7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329" y="6084033"/>
            <a:ext cx="1404598" cy="6160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28EDB0-B2C1-3EB6-F38D-63FFA0A9A8D1}"/>
              </a:ext>
            </a:extLst>
          </p:cNvPr>
          <p:cNvSpPr txBox="1"/>
          <p:nvPr/>
        </p:nvSpPr>
        <p:spPr>
          <a:xfrm>
            <a:off x="5183799" y="4319034"/>
            <a:ext cx="21656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    Swetha  S</a:t>
            </a:r>
          </a:p>
          <a:p>
            <a:r>
              <a:rPr lang="en-GB" sz="2400" dirty="0">
                <a:solidFill>
                  <a:schemeClr val="bg1"/>
                </a:solidFill>
              </a:rPr>
              <a:t> VIT CHENNAI </a:t>
            </a:r>
          </a:p>
          <a:p>
            <a:r>
              <a:rPr lang="en-GB" sz="2400" dirty="0">
                <a:solidFill>
                  <a:schemeClr val="bg1"/>
                </a:solidFill>
              </a:rPr>
              <a:t>     (T9981)</a:t>
            </a:r>
            <a:endParaRPr lang="en-IN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0314" y="1422503"/>
            <a:ext cx="11047158" cy="5859650"/>
          </a:xfrm>
        </p:spPr>
        <p:txBody>
          <a:bodyPr/>
          <a:lstStyle/>
          <a:p>
            <a:pPr algn="just">
              <a:lnSpc>
                <a:spcPct val="100000"/>
              </a:lnSpc>
            </a:pPr>
            <a:r>
              <a:rPr lang="en-IN" dirty="0">
                <a:latin typeface="Calibri (Body)"/>
              </a:rPr>
              <a:t> Wind farms experience power losses due to wake effects, where upstream turbines reduce wind speed and energy available to downstream turbines.</a:t>
            </a:r>
          </a:p>
          <a:p>
            <a:pPr algn="just">
              <a:lnSpc>
                <a:spcPct val="100000"/>
              </a:lnSpc>
            </a:pPr>
            <a:r>
              <a:rPr lang="en-IN" dirty="0">
                <a:latin typeface="Calibri (Body)"/>
              </a:rPr>
              <a:t>Accurate wake modelling requires computationally intensive simulations, making direct integration with fast wind-power prediction challenging.</a:t>
            </a:r>
          </a:p>
          <a:p>
            <a:pPr algn="just">
              <a:lnSpc>
                <a:spcPct val="100000"/>
              </a:lnSpc>
            </a:pPr>
            <a:r>
              <a:rPr lang="en-IN" dirty="0">
                <a:latin typeface="Calibri (Body)"/>
              </a:rPr>
              <a:t> The predicted wind-farm power is then passed to an electrolyzer and revenue optimization model to estimate hydrogen production and improve renewable-energy utilization.</a:t>
            </a:r>
          </a:p>
          <a:p>
            <a:pPr algn="just">
              <a:lnSpc>
                <a:spcPct val="100000"/>
              </a:lnSpc>
            </a:pPr>
            <a:endParaRPr lang="en-US" sz="2700" b="0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21274" y="416604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353926" y="1062935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661930-5628-0ABC-16F6-CC52710A6F41}"/>
              </a:ext>
            </a:extLst>
          </p:cNvPr>
          <p:cNvSpPr txBox="1"/>
          <p:nvPr/>
        </p:nvSpPr>
        <p:spPr>
          <a:xfrm>
            <a:off x="2198914" y="1643743"/>
            <a:ext cx="184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605A2-89EA-860A-C812-C192F3322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EF0FF7-006C-A82C-9021-BFF4E5B8C869}"/>
              </a:ext>
            </a:extLst>
          </p:cNvPr>
          <p:cNvSpPr txBox="1"/>
          <p:nvPr/>
        </p:nvSpPr>
        <p:spPr>
          <a:xfrm>
            <a:off x="221274" y="416604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330C728-1E0A-C0CE-F1CE-6E526976A43F}"/>
              </a:ext>
            </a:extLst>
          </p:cNvPr>
          <p:cNvCxnSpPr>
            <a:cxnSpLocks/>
          </p:cNvCxnSpPr>
          <p:nvPr/>
        </p:nvCxnSpPr>
        <p:spPr>
          <a:xfrm>
            <a:off x="353926" y="1062935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D57E63-4FF5-6148-A047-1FA55B81F539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014BD0-F9E5-A403-6A4C-B5C811818E7F}"/>
              </a:ext>
            </a:extLst>
          </p:cNvPr>
          <p:cNvSpPr txBox="1"/>
          <p:nvPr/>
        </p:nvSpPr>
        <p:spPr>
          <a:xfrm>
            <a:off x="2198914" y="1643743"/>
            <a:ext cx="184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4EBDB02-CC32-C82E-ED84-54F3BC33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74" y="1062935"/>
            <a:ext cx="8411749" cy="400105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6641B7-5738-A56A-E83D-CC8EFF7FC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3892" y="4016186"/>
            <a:ext cx="5876833" cy="2425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711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8479" y="1349121"/>
            <a:ext cx="11393209" cy="5371544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en-IN" dirty="0">
                <a:latin typeface="Calibri (Body)"/>
              </a:rPr>
              <a:t>Design an end-to-end AI pipeline that combines wind-turbine SCADA data with FLORIS-based wake features to predict turbine power under varying wind conditions.</a:t>
            </a:r>
          </a:p>
          <a:p>
            <a:pPr algn="just">
              <a:lnSpc>
                <a:spcPct val="150000"/>
              </a:lnSpc>
            </a:pPr>
            <a:r>
              <a:rPr lang="en-IN" dirty="0">
                <a:latin typeface="Calibri (Body)"/>
              </a:rPr>
              <a:t>Estimate hydrogen production from predicted available wind-farm power and optimize its utilization through an electrolyzer and revenue optimization model, with the complete system exposed through a Fast API-based deployment.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6271" y="1414503"/>
            <a:ext cx="11055007" cy="4791377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en-IN" dirty="0">
                <a:latin typeface="+mn-lt"/>
              </a:rPr>
              <a:t>To combine both feature sets to train the CNN-PINN (Convolutional Neural Network–Physics-Informed Neural Network) for turbine power prediction under varying wind conditions.</a:t>
            </a:r>
          </a:p>
          <a:p>
            <a:pPr algn="just">
              <a:lnSpc>
                <a:spcPct val="150000"/>
              </a:lnSpc>
            </a:pPr>
            <a:r>
              <a:rPr lang="en-IN" dirty="0">
                <a:latin typeface="+mn-lt"/>
              </a:rPr>
              <a:t>Power-to-Hydrogen &amp; Decision System: Use the predicted wind-farm power and wake-related losses to estimate electricity available for an electrolyzer, calculate hydrogen production and optimize power utilization.</a:t>
            </a:r>
            <a:endParaRPr lang="en-US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433ECB-8EAD-0AB5-1D66-62BCF658AA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5765" y="1511977"/>
            <a:ext cx="11656256" cy="4529974"/>
          </a:xfrm>
        </p:spPr>
        <p:txBody>
          <a:bodyPr/>
          <a:lstStyle/>
          <a:p>
            <a:pPr algn="just"/>
            <a:r>
              <a:rPr lang="en-IN" dirty="0"/>
              <a:t>Jensen (1983) established an analytical wind-turbine wake model, while </a:t>
            </a:r>
            <a:r>
              <a:rPr lang="en-IN" dirty="0" err="1"/>
              <a:t>Bastankhah</a:t>
            </a:r>
            <a:r>
              <a:rPr lang="en-IN" dirty="0"/>
              <a:t> &amp; </a:t>
            </a:r>
            <a:r>
              <a:rPr lang="en-IN" dirty="0" err="1"/>
              <a:t>Porté</a:t>
            </a:r>
            <a:r>
              <a:rPr lang="en-IN" dirty="0"/>
              <a:t>-Agel (2014) improved wake-deficit modelling using a Gaussian profile and momentum conservation. Later research evaluated analytical wake models for wind-farm power prediction, showing their usefulness as computationally efficient alternatives to high-fidelity simulations. </a:t>
            </a:r>
          </a:p>
          <a:p>
            <a:pPr algn="just"/>
            <a:r>
              <a:rPr lang="en-IN" dirty="0" err="1"/>
              <a:t>Raissi</a:t>
            </a:r>
            <a:r>
              <a:rPr lang="en-IN" dirty="0"/>
              <a:t> et al. (2019) introduced Physics-Informed Neural Networks (PINNs), providing a framework for incorporating physical knowledge into neural-network learning. Subsequent work has explored physics-based and AI approaches for wind-farm modelling and renewable-energy systems.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4F4041-8131-3536-FDDF-513CA3ABA63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4FB48-926C-ED67-A798-FA9DE5F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3686131-D7AD-2687-0F42-5E11866C62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5765" y="1511977"/>
            <a:ext cx="11348719" cy="4529974"/>
          </a:xfrm>
        </p:spPr>
        <p:txBody>
          <a:bodyPr/>
          <a:lstStyle/>
          <a:p>
            <a:pPr marL="0" indent="0" algn="just">
              <a:lnSpc>
                <a:spcPct val="150000"/>
              </a:lnSpc>
              <a:buNone/>
            </a:pPr>
            <a:r>
              <a:rPr lang="en-IN" dirty="0"/>
              <a:t>Existing research largely treats wake modelling, machine-learning power prediction, and wind-to-hydrogen systems as separate problems. Our work bridges these areas by combining SCADA-derived features with FLORIS-based wake features, training a CNN-PINN for turbine-power prediction, and connecting the predicted wind-farm power to electrolyzer-based hydrogen estimation and revenue optimization through a </a:t>
            </a:r>
            <a:r>
              <a:rPr lang="en-IN" dirty="0" err="1"/>
              <a:t>FastAPI</a:t>
            </a:r>
            <a:r>
              <a:rPr lang="en-IN" dirty="0"/>
              <a:t> deployment.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14326B-A184-F057-699B-E922AE0A55C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RESEARCH GAP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B93AAFA-E7AC-25D7-852D-0A8DFB24D62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5E98BFD-A9AB-372D-4E80-6466F99CA3B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7035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21274" y="301230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947561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EADF6DB-6CFE-DDC5-997C-E84EE1A9470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FDA684D-5A4D-0EC8-7160-6D43B0CAF4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243376"/>
              </p:ext>
            </p:extLst>
          </p:nvPr>
        </p:nvGraphicFramePr>
        <p:xfrm>
          <a:off x="1118958" y="1134828"/>
          <a:ext cx="10122360" cy="4821253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374120">
                  <a:extLst>
                    <a:ext uri="{9D8B030D-6E8A-4147-A177-3AD203B41FA5}">
                      <a16:colId xmlns:a16="http://schemas.microsoft.com/office/drawing/2014/main" val="1002302856"/>
                    </a:ext>
                  </a:extLst>
                </a:gridCol>
                <a:gridCol w="3374120">
                  <a:extLst>
                    <a:ext uri="{9D8B030D-6E8A-4147-A177-3AD203B41FA5}">
                      <a16:colId xmlns:a16="http://schemas.microsoft.com/office/drawing/2014/main" val="2012853345"/>
                    </a:ext>
                  </a:extLst>
                </a:gridCol>
                <a:gridCol w="3374120">
                  <a:extLst>
                    <a:ext uri="{9D8B030D-6E8A-4147-A177-3AD203B41FA5}">
                      <a16:colId xmlns:a16="http://schemas.microsoft.com/office/drawing/2014/main" val="1688660187"/>
                    </a:ext>
                  </a:extLst>
                </a:gridCol>
              </a:tblGrid>
              <a:tr h="3364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Source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Contribution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Research Gap</a:t>
                      </a:r>
                    </a:p>
                  </a:txBody>
                  <a:tcPr marL="84110" marR="84110" marT="42055" marB="42055" anchor="ctr"/>
                </a:tc>
                <a:extLst>
                  <a:ext uri="{0D108BD9-81ED-4DB2-BD59-A6C34878D82A}">
                    <a16:rowId xmlns:a16="http://schemas.microsoft.com/office/drawing/2014/main" val="2025002416"/>
                  </a:ext>
                </a:extLst>
              </a:tr>
              <a:tr h="8410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Bastankhah &amp; Porté-Agel (2014)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Developed the Gaussian wind-turbine wake-deficit model.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Does not integrate wake modelling with AI-based power prediction and hydrogen optimization.</a:t>
                      </a:r>
                    </a:p>
                  </a:txBody>
                  <a:tcPr marL="84110" marR="84110" marT="42055" marB="42055" anchor="ctr"/>
                </a:tc>
                <a:extLst>
                  <a:ext uri="{0D108BD9-81ED-4DB2-BD59-A6C34878D82A}">
                    <a16:rowId xmlns:a16="http://schemas.microsoft.com/office/drawing/2014/main" val="1121651929"/>
                  </a:ext>
                </a:extLst>
              </a:tr>
              <a:tr h="8410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Raissi et al. (2019)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Introduced the Physics-Informed Neural Network (PINN) framework.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General PINN methodology, not a complete wake-aware wind-to-hydrogen system.</a:t>
                      </a:r>
                    </a:p>
                  </a:txBody>
                  <a:tcPr marL="84110" marR="84110" marT="42055" marB="42055" anchor="ctr"/>
                </a:tc>
                <a:extLst>
                  <a:ext uri="{0D108BD9-81ED-4DB2-BD59-A6C34878D82A}">
                    <a16:rowId xmlns:a16="http://schemas.microsoft.com/office/drawing/2014/main" val="1824683161"/>
                  </a:ext>
                </a:extLst>
              </a:tr>
              <a:tr h="10934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Eivazi</a:t>
                      </a:r>
                      <a:r>
                        <a:rPr lang="en-I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et al. (2022)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Applied PINNs to turbulent wake/flow prediction.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Does not combine SCADA, wake-aware power prediction, hydrogen estimation, and revenue optimization.</a:t>
                      </a:r>
                    </a:p>
                  </a:txBody>
                  <a:tcPr marL="84110" marR="84110" marT="42055" marB="42055" anchor="ctr"/>
                </a:tc>
                <a:extLst>
                  <a:ext uri="{0D108BD9-81ED-4DB2-BD59-A6C34878D82A}">
                    <a16:rowId xmlns:a16="http://schemas.microsoft.com/office/drawing/2014/main" val="215453089"/>
                  </a:ext>
                </a:extLst>
              </a:tr>
              <a:tr h="8410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Sanchez et al. (2020)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Studied PEM electrolyzer performance.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Does not connect electrolyzer operation with wake-aware wind-power prediction.</a:t>
                      </a:r>
                    </a:p>
                  </a:txBody>
                  <a:tcPr marL="84110" marR="84110" marT="42055" marB="42055" anchor="ctr"/>
                </a:tc>
                <a:extLst>
                  <a:ext uri="{0D108BD9-81ED-4DB2-BD59-A6C34878D82A}">
                    <a16:rowId xmlns:a16="http://schemas.microsoft.com/office/drawing/2014/main" val="2518367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IRENA (2020)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Addressed green-hydrogen economics and costs.</a:t>
                      </a:r>
                    </a:p>
                  </a:txBody>
                  <a:tcPr marL="84110" marR="84110" marT="42055" marB="4205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Does not integrate AI-based wind prediction with hydrogen and revenue optimization.</a:t>
                      </a:r>
                    </a:p>
                  </a:txBody>
                  <a:tcPr marL="84110" marR="84110" marT="42055" marB="42055" anchor="ctr"/>
                </a:tc>
                <a:extLst>
                  <a:ext uri="{0D108BD9-81ED-4DB2-BD59-A6C34878D82A}">
                    <a16:rowId xmlns:a16="http://schemas.microsoft.com/office/drawing/2014/main" val="3414918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1B80-6A3A-7F89-A262-2367A7B01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FBA007-758E-55F5-35D3-DD8533F60616}"/>
              </a:ext>
            </a:extLst>
          </p:cNvPr>
          <p:cNvSpPr txBox="1"/>
          <p:nvPr/>
        </p:nvSpPr>
        <p:spPr>
          <a:xfrm>
            <a:off x="221274" y="301230"/>
            <a:ext cx="106243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381329E-76EC-555A-1638-502E7580AC75}"/>
              </a:ext>
            </a:extLst>
          </p:cNvPr>
          <p:cNvCxnSpPr>
            <a:cxnSpLocks/>
          </p:cNvCxnSpPr>
          <p:nvPr/>
        </p:nvCxnSpPr>
        <p:spPr>
          <a:xfrm>
            <a:off x="221274" y="947561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AE6086-DBB7-5F08-F68A-0544A3DDB5C9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1A3DBCB-0A4B-89C9-13E7-04D03A38C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183988"/>
              </p:ext>
            </p:extLst>
          </p:nvPr>
        </p:nvGraphicFramePr>
        <p:xfrm>
          <a:off x="666229" y="1349698"/>
          <a:ext cx="10859541" cy="3909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9847">
                  <a:extLst>
                    <a:ext uri="{9D8B030D-6E8A-4147-A177-3AD203B41FA5}">
                      <a16:colId xmlns:a16="http://schemas.microsoft.com/office/drawing/2014/main" val="3901004001"/>
                    </a:ext>
                  </a:extLst>
                </a:gridCol>
                <a:gridCol w="3619847">
                  <a:extLst>
                    <a:ext uri="{9D8B030D-6E8A-4147-A177-3AD203B41FA5}">
                      <a16:colId xmlns:a16="http://schemas.microsoft.com/office/drawing/2014/main" val="2505478153"/>
                    </a:ext>
                  </a:extLst>
                </a:gridCol>
                <a:gridCol w="3619847">
                  <a:extLst>
                    <a:ext uri="{9D8B030D-6E8A-4147-A177-3AD203B41FA5}">
                      <a16:colId xmlns:a16="http://schemas.microsoft.com/office/drawing/2014/main" val="2576416831"/>
                    </a:ext>
                  </a:extLst>
                </a:gridCol>
              </a:tblGrid>
              <a:tr h="351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Dataset</a:t>
                      </a:r>
                      <a:endParaRPr lang="en-I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Tech Stack</a:t>
                      </a:r>
                      <a:endParaRPr lang="en-I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Expected Outcome</a:t>
                      </a:r>
                      <a:endParaRPr lang="en-I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7832921"/>
                  </a:ext>
                </a:extLst>
              </a:tr>
              <a:tr h="15429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SCADA:</a:t>
                      </a:r>
                    </a:p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j-lt"/>
                        </a:rPr>
                        <a:t>combined_wind_experiments.csv</a:t>
                      </a: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61,285 records, 32 columns containing wind, turbine, temperature, efficiency and power measurements.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Python, Pandas, NumPy</a:t>
                      </a: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— data processing and feature engineering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Wake-aware wind-power prediction</a:t>
                      </a: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using SCADA + FLORIS features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1468336"/>
                  </a:ext>
                </a:extLst>
              </a:tr>
              <a:tr h="1055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FLORIS:</a:t>
                      </a: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Horns Rev 1 + V80 turbine simulation data with turbine/farm power and wake-related features.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PyTorch, FLORIS, scikit-learn</a:t>
                      </a: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— CNN-PINN development and wake modelling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Hydrogen production estimation</a:t>
                      </a: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from predicted available wind power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5634484"/>
                  </a:ext>
                </a:extLst>
              </a:tr>
              <a:tr h="812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Final model data:</a:t>
                      </a: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4,353 usable samples with 21 input features; 3,482 training + 871 validation.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FastAPI</a:t>
                      </a:r>
                      <a:r>
                        <a:rPr lang="en-IN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, HTML, CSS, JavaScript, Chart.js, Docker</a:t>
                      </a: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— API, dashboard and deployment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Revenue optimization</a:t>
                      </a: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 between hydrogen production and grid export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2353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3446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063" y="1385134"/>
            <a:ext cx="11098380" cy="4820420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  1.  Module 1: </a:t>
            </a:r>
            <a:r>
              <a:rPr lang="en-IN" dirty="0"/>
              <a:t>Wake Physics Data Generation</a:t>
            </a:r>
          </a:p>
          <a:p>
            <a:pPr algn="just"/>
            <a:r>
              <a:rPr lang="en-IN" dirty="0"/>
              <a:t>1.1 Site &amp; Turbine Setup: Horns Rev 1 layout with V80 turbine specifications.</a:t>
            </a:r>
          </a:p>
          <a:p>
            <a:pPr algn="just"/>
            <a:r>
              <a:rPr lang="en-IN" dirty="0"/>
              <a:t> 1.2 Wind Sweep Design: 72 wind directions × 15 wind speeds = 1,080 scenarios.</a:t>
            </a:r>
          </a:p>
          <a:p>
            <a:pPr algn="just"/>
            <a:r>
              <a:rPr lang="en-IN" dirty="0"/>
              <a:t>1.3 Wake Computation: </a:t>
            </a:r>
            <a:r>
              <a:rPr lang="en-IN" dirty="0" err="1"/>
              <a:t>Bastankhah</a:t>
            </a:r>
            <a:r>
              <a:rPr lang="en-IN" dirty="0"/>
              <a:t>-Gaussian wake model through FLORIS to calculate wake effects and turbine power.</a:t>
            </a:r>
          </a:p>
          <a:p>
            <a:pPr algn="just"/>
            <a:r>
              <a:rPr lang="en-IN" dirty="0"/>
              <a:t>1.4 Dataset Export: CSV containing wind speed, wind direction, turbine position, turbine power, farm power, wake deficit, and wake-related features for CNN-PINN training.</a:t>
            </a:r>
          </a:p>
          <a:p>
            <a:pPr marL="0" indent="0">
              <a:lnSpc>
                <a:spcPct val="150000"/>
              </a:lnSpc>
              <a:buNone/>
            </a:pPr>
            <a:endParaRPr lang="en-IN" dirty="0"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D4A0452-2CB8-E4C6-FAC7-ECD109C50CE1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7DC75-9451-1A6F-64AD-B2E02EDAF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738A70-D1EA-DAED-C0EC-DD43AC8FC9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23634" y="1357505"/>
            <a:ext cx="11468366" cy="4142989"/>
          </a:xfrm>
        </p:spPr>
        <p:txBody>
          <a:bodyPr/>
          <a:lstStyle/>
          <a:p>
            <a:pPr marL="0" indent="0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2. Module 2</a:t>
            </a:r>
            <a:r>
              <a:rPr lang="en-IN" dirty="0"/>
              <a:t>: Exploratory Data Analysis &amp; Data Preparation</a:t>
            </a:r>
          </a:p>
          <a:p>
            <a:r>
              <a:rPr lang="en-IN" dirty="0"/>
              <a:t>2.1 Dataset Inspection: Examined dataset structure, columns, data types, dimensions, and missing values.</a:t>
            </a:r>
          </a:p>
          <a:p>
            <a:r>
              <a:rPr lang="en-IN" dirty="0"/>
              <a:t>2.2 Data Cleaning: Removed duplicates, handled missing values, and corrected invalid or inconsistent observations.</a:t>
            </a:r>
          </a:p>
          <a:p>
            <a:r>
              <a:rPr lang="en-IN" dirty="0"/>
              <a:t>2.3 Exploratory Analysis: Studied wind speed, wind direction, turbine power, temperature, and other operational feature distributions and relationships.</a:t>
            </a:r>
          </a:p>
          <a:p>
            <a:r>
              <a:rPr lang="en-IN" dirty="0"/>
              <a:t>2.4 Feature Engineering: Created derived features such as wind speed squared/cubed, wind-direction sine/cosine, temperature difference, and wind-condition changes.</a:t>
            </a:r>
          </a:p>
          <a:p>
            <a:pPr marL="0" indent="0">
              <a:lnSpc>
                <a:spcPct val="150000"/>
              </a:lnSpc>
              <a:buNone/>
            </a:pPr>
            <a:endParaRPr lang="en-IN" dirty="0"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93618F-DDC4-2A51-DDC8-B4FA4F3A0066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037B8DD-449E-77E9-B2DC-BF531F11F5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19F6D17-B306-B33C-4E2E-A1D5E560114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318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7B6F4-72C0-D7B8-D7FB-0EACBB1E8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ED3DC8-0342-9B51-450A-1B6FCBBE40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3654" y="1357505"/>
            <a:ext cx="11633258" cy="4142989"/>
          </a:xfrm>
        </p:spPr>
        <p:txBody>
          <a:bodyPr/>
          <a:lstStyle/>
          <a:p>
            <a:pPr marL="0" indent="0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3. Module 3</a:t>
            </a:r>
            <a:r>
              <a:rPr lang="en-IN" dirty="0"/>
              <a:t>: CNN-PINN Model Development</a:t>
            </a:r>
          </a:p>
          <a:p>
            <a:r>
              <a:rPr lang="en-IN" dirty="0"/>
              <a:t>3.1 Input Features: Uses 21 engineered SCADA and FLORIS-based features.</a:t>
            </a:r>
          </a:p>
          <a:p>
            <a:r>
              <a:rPr lang="en-IN" dirty="0"/>
              <a:t>3.2 Model Architecture: Builds the CNN-PINN model for wake-aware turbine power prediction.</a:t>
            </a:r>
          </a:p>
          <a:p>
            <a:r>
              <a:rPr lang="en-IN" dirty="0"/>
              <a:t>3.3 Model Training: Trains the model using the prepared dataset and Adam optimizer.</a:t>
            </a:r>
          </a:p>
          <a:p>
            <a:r>
              <a:rPr lang="en-IN" dirty="0"/>
              <a:t>3.4 Validation: Monitors model performance on validation data during training.</a:t>
            </a:r>
          </a:p>
          <a:p>
            <a:r>
              <a:rPr lang="en-IN" dirty="0"/>
              <a:t>3.5 Evaluation: Achieved MAE = 0.046 MW, RMSE = 0.092 MW, and R² = 0.9761 (97.61%).</a:t>
            </a:r>
          </a:p>
          <a:p>
            <a:pPr marL="0" indent="0">
              <a:lnSpc>
                <a:spcPct val="150000"/>
              </a:lnSpc>
              <a:buNone/>
            </a:pPr>
            <a:endParaRPr lang="en-IN" dirty="0"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6357CA-2E28-A018-A50E-A264714B5E2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866E3DB-AC48-B0B3-770E-FF72B367924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A7C6EE-8591-4881-7F43-192D2D973156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684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78568" y="1026532"/>
            <a:ext cx="10779216" cy="444565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4. Module 4: </a:t>
            </a:r>
            <a:r>
              <a:rPr lang="en-IN" dirty="0"/>
              <a:t>Hydrogen &amp; Revenue Optimization</a:t>
            </a:r>
          </a:p>
          <a:p>
            <a:pPr algn="just"/>
            <a:r>
              <a:rPr lang="en-IN" dirty="0"/>
              <a:t>Converts predicted wind-farm power into hydrogen-production and energy-utilization decisions.</a:t>
            </a:r>
          </a:p>
          <a:p>
            <a:pPr algn="just"/>
            <a:r>
              <a:rPr lang="en-IN" dirty="0"/>
              <a:t>4.1 Available Power: Determines power available after estimated wake losses.</a:t>
            </a:r>
          </a:p>
          <a:p>
            <a:pPr algn="just"/>
            <a:r>
              <a:rPr lang="en-IN" dirty="0"/>
              <a:t>4.2 Electrolyzer Allocation: Calculates the portion of available power supplied to the electrolyzer.</a:t>
            </a:r>
          </a:p>
          <a:p>
            <a:pPr algn="just"/>
            <a:r>
              <a:rPr lang="en-IN" dirty="0"/>
              <a:t>4.3 Hydrogen Estimation: Estimates hydrogen production from electrolyzer power and efficiency.</a:t>
            </a:r>
          </a:p>
          <a:p>
            <a:pPr algn="just"/>
            <a:r>
              <a:rPr lang="en-IN" dirty="0"/>
              <a:t>4.4 Revenue Optimization: Calculates hydrogen revenue, grid revenue, and operating costs to determine the economic outcome.</a:t>
            </a:r>
          </a:p>
          <a:p>
            <a:pPr lvl="1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21274" y="380201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434216" y="1026532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F5B8F-9597-0D84-6283-D5E1A9D7A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C4D56C-ED79-451E-8862-92556FEB6B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0232" y="1372102"/>
            <a:ext cx="10624338" cy="444565"/>
          </a:xfrm>
        </p:spPr>
        <p:txBody>
          <a:bodyPr/>
          <a:lstStyle/>
          <a:p>
            <a:pPr marL="0" indent="0">
              <a:buNone/>
            </a:pPr>
            <a:r>
              <a:rPr lang="en-IN" dirty="0">
                <a:solidFill>
                  <a:schemeClr val="tx2">
                    <a:lumMod val="50000"/>
                  </a:schemeClr>
                </a:solidFill>
              </a:rPr>
              <a:t>5. Module 5: </a:t>
            </a:r>
            <a:r>
              <a:rPr lang="en-IN" dirty="0" err="1"/>
              <a:t>FastAPI</a:t>
            </a:r>
            <a:r>
              <a:rPr lang="en-IN" dirty="0"/>
              <a:t> &amp; Interactive Dashboard</a:t>
            </a:r>
          </a:p>
          <a:p>
            <a:pPr algn="just"/>
            <a:r>
              <a:rPr lang="en-IN" dirty="0"/>
              <a:t>Deploys the complete </a:t>
            </a:r>
            <a:r>
              <a:rPr lang="en-IN" dirty="0" err="1"/>
              <a:t>AeroHydro</a:t>
            </a:r>
            <a:r>
              <a:rPr lang="en-IN" dirty="0"/>
              <a:t>-PINN inference and optimization workflow through an interactive web dashboard.</a:t>
            </a:r>
          </a:p>
          <a:p>
            <a:pPr algn="just"/>
            <a:r>
              <a:rPr lang="en-IN" dirty="0"/>
              <a:t>5.1 </a:t>
            </a:r>
            <a:r>
              <a:rPr lang="en-IN" dirty="0" err="1"/>
              <a:t>FastAPI</a:t>
            </a:r>
            <a:r>
              <a:rPr lang="en-IN" dirty="0"/>
              <a:t> Backend: Provides REST API endpoints for health checking and wind-farm analysis.</a:t>
            </a:r>
          </a:p>
          <a:p>
            <a:pPr algn="just"/>
            <a:r>
              <a:rPr lang="en-IN" dirty="0"/>
              <a:t>5.2 JSON Upload: Accepts SCADA-style telemetry files through the dashboard.</a:t>
            </a:r>
          </a:p>
          <a:p>
            <a:pPr algn="just"/>
            <a:r>
              <a:rPr lang="en-IN" dirty="0"/>
              <a:t>5.3 AI Inference: Sends telemetry through the trained model and optimization pipeline.</a:t>
            </a:r>
          </a:p>
          <a:p>
            <a:pPr algn="just"/>
            <a:r>
              <a:rPr lang="en-IN" dirty="0"/>
              <a:t>5.4 Results Dashboard: Displays predicted power, wake loss, turbine outputs, hydrogen production, and revenue.</a:t>
            </a:r>
          </a:p>
          <a:p>
            <a:pPr lvl="1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F44813-D55B-9B74-D794-A490A8D50A1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994DE4-08F1-8885-4100-0D5F32E8873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9287F11-42BB-6CF3-8772-B7D08CDB85EC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>
                <a:solidFill>
                  <a:srgbClr val="FFFFFF"/>
                </a:solidFill>
              </a:rPr>
              <a:t>Project Title -  Calibri body 18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7370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1"/>
            <a:ext cx="12254538" cy="6898126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17257" y="23637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393898" y="1301791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96372" y="2055347"/>
            <a:ext cx="1142818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 panose="020F0502020204030204" pitchFamily="34" charset="0"/>
              </a:rPr>
              <a:t>Project Title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 panose="020F0502020204030204" pitchFamily="34" charset="0"/>
              </a:rPr>
              <a:t>   </a:t>
            </a: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 panose="020F0502020204030204" pitchFamily="34" charset="0"/>
              </a:rPr>
              <a:t>MegaAsset</a:t>
            </a:r>
            <a:r>
              <a:rPr lang="en-US" sz="3600" b="1" dirty="0">
                <a:solidFill>
                  <a:prstClr val="white"/>
                </a:solidFill>
                <a:latin typeface="Calibri" panose="020F0502020204030204"/>
                <a:cs typeface="Calibri" panose="020F0502020204030204" pitchFamily="34" charset="0"/>
              </a:rPr>
              <a:t>-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 panose="020F0502020204030204" pitchFamily="34" charset="0"/>
              </a:rPr>
              <a:t>Agentic Graph-RAG For Infrastructure Intelligence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 panose="020F0502020204030204" pitchFamily="34" charset="0"/>
              </a:rPr>
              <a:t>S.Swetha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 panose="020F0502020204030204" pitchFamily="34" charset="0"/>
              </a:rPr>
              <a:t>VIT CHENNAI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prstClr val="white"/>
                </a:solidFill>
                <a:latin typeface="Calibri" panose="020F0502020204030204"/>
                <a:cs typeface="Calibri" panose="020F0502020204030204" pitchFamily="34" charset="0"/>
              </a:rPr>
              <a:t>T9981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8805E8-97B8-7731-3709-DE0727D5E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93" y="5924281"/>
            <a:ext cx="1614459" cy="70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359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0977" y="1349698"/>
            <a:ext cx="11002056" cy="4377332"/>
          </a:xfrm>
        </p:spPr>
        <p:txBody>
          <a:bodyPr/>
          <a:lstStyle/>
          <a:p>
            <a:pPr lvl="0" algn="just"/>
            <a:r>
              <a:rPr lang="en-IN" dirty="0" err="1">
                <a:latin typeface="+mn-lt"/>
              </a:rPr>
              <a:t>MegaAsset</a:t>
            </a:r>
            <a:r>
              <a:rPr lang="en-IN" dirty="0">
                <a:latin typeface="+mn-lt"/>
              </a:rPr>
              <a:t> is an AI-powered knowledge system designed for metro infrastructure intelligence. Metro organizations generate large volumes of information across different sources and formats. </a:t>
            </a:r>
          </a:p>
          <a:p>
            <a:pPr lvl="0" algn="just"/>
            <a:r>
              <a:rPr lang="en-IN" dirty="0">
                <a:latin typeface="+mn-lt"/>
              </a:rPr>
              <a:t>Important information is available in metro annual reports, PT3 operational datasets, asset registers, and maintenance records. </a:t>
            </a:r>
          </a:p>
          <a:p>
            <a:pPr lvl="0" algn="just"/>
            <a:r>
              <a:rPr lang="en-IN" dirty="0">
                <a:latin typeface="+mn-lt"/>
              </a:rPr>
              <a:t>Currently, users often need to manually search multiple documents and datasets to find relevant information. This makes information discovery time-consuming, fragmented, and difficult to cross-reference. </a:t>
            </a:r>
          </a:p>
          <a:p>
            <a:pPr lvl="0" algn="just"/>
            <a:r>
              <a:rPr lang="en-IN" dirty="0">
                <a:latin typeface="+mn-lt"/>
              </a:rPr>
              <a:t>It integrates these heterogeneous sources into a unified knowledge system. </a:t>
            </a:r>
            <a:endParaRPr lang="en-US" sz="2400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21274" y="301230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326205" y="947561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2765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3607" y="1513929"/>
            <a:ext cx="11480572" cy="4728501"/>
          </a:xfrm>
        </p:spPr>
        <p:txBody>
          <a:bodyPr/>
          <a:lstStyle/>
          <a:p>
            <a:pPr lvl="0" algn="just"/>
            <a:r>
              <a:rPr lang="en-IN" dirty="0">
                <a:latin typeface="+mn-lt"/>
              </a:rPr>
              <a:t>To preprocess and organize structured and unstructured metro information for efficient retrieval. To identify important entities such as assets, stations, trains, maintenance activities, services, and operational metrics. </a:t>
            </a:r>
          </a:p>
          <a:p>
            <a:pPr lvl="0" algn="just"/>
            <a:r>
              <a:rPr lang="en-IN" dirty="0">
                <a:latin typeface="+mn-lt"/>
              </a:rPr>
              <a:t>To construct a knowledge graph representing relationships between different metro entities. To implement Graph-RAG for relationship-aware and context-based information retrieval. </a:t>
            </a:r>
          </a:p>
          <a:p>
            <a:pPr lvl="0" algn="just"/>
            <a:r>
              <a:rPr lang="en-IN" dirty="0">
                <a:latin typeface="+mn-lt"/>
              </a:rPr>
              <a:t>To implement Agentic AI for query understanding, task planning, retrieval, and reasoning. To enable stakeholders to interact with the system through natural-language questions. </a:t>
            </a:r>
          </a:p>
          <a:p>
            <a:pPr marL="0" indent="0">
              <a:buNone/>
            </a:pPr>
            <a:endParaRPr lang="en-US" sz="2400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21274" y="301230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955094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1706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1677" y="1645575"/>
            <a:ext cx="11489691" cy="4142989"/>
          </a:xfrm>
        </p:spPr>
        <p:txBody>
          <a:bodyPr/>
          <a:lstStyle/>
          <a:p>
            <a:pPr algn="just"/>
            <a:r>
              <a:rPr lang="en-IN" dirty="0"/>
              <a:t> Unified Knowledge System: Integrates real CMRL annual reports and maintenance documents using RAG for evidence-based information retrieval.</a:t>
            </a:r>
          </a:p>
          <a:p>
            <a:pPr algn="just"/>
            <a:r>
              <a:rPr lang="en-IN" dirty="0"/>
              <a:t> Multi-Agent Risk Analysis: Uses specialized agents with Graph to </a:t>
            </a:r>
            <a:r>
              <a:rPr lang="en-IN" dirty="0" err="1"/>
              <a:t>analyze</a:t>
            </a:r>
            <a:r>
              <a:rPr lang="en-IN" dirty="0"/>
              <a:t> maintenance, operational, equipment, safety, compliance, financial, and infrastructure risks.</a:t>
            </a:r>
          </a:p>
          <a:p>
            <a:pPr algn="just"/>
            <a:r>
              <a:rPr lang="en-IN" dirty="0"/>
              <a:t>Complaint Intelligence: Allows passengers and employees to submit text, documents, images, or videos, linking complaints to relevant assets, evidence, risks, and prioritized actions.</a:t>
            </a:r>
          </a:p>
          <a:p>
            <a:pPr marL="0" indent="0">
              <a:buNone/>
            </a:pPr>
            <a:endParaRPr lang="en-US" sz="2400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21274" y="380201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053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433ECB-8EAD-0AB5-1D66-62BCF658AA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237" y="1148876"/>
            <a:ext cx="11358489" cy="4142989"/>
          </a:xfrm>
        </p:spPr>
        <p:txBody>
          <a:bodyPr/>
          <a:lstStyle/>
          <a:p>
            <a:pPr algn="just"/>
            <a:r>
              <a:rPr lang="en-IN" dirty="0">
                <a:latin typeface="+mn-lt"/>
              </a:rPr>
              <a:t>Research on Retrieval-Augmented Generation (RAG) demonstrates that retrieving external knowledge can improve the accuracy and relevance of AI-generated responses.</a:t>
            </a:r>
          </a:p>
          <a:p>
            <a:pPr algn="just"/>
            <a:r>
              <a:rPr lang="en-IN" dirty="0">
                <a:latin typeface="+mn-lt"/>
              </a:rPr>
              <a:t> Knowledge Graphs (KGs) provide a structured representation of entities and relationships, making them useful for connecting information across different sources. </a:t>
            </a:r>
          </a:p>
          <a:p>
            <a:pPr algn="just"/>
            <a:r>
              <a:rPr lang="en-IN" dirty="0">
                <a:latin typeface="+mn-lt"/>
              </a:rPr>
              <a:t>Graph-RAG extends conventional RAG by combining graph-based relationships with document retrieval, supporting more contextual and multi-hop queries.</a:t>
            </a:r>
          </a:p>
          <a:p>
            <a:pPr algn="just"/>
            <a:r>
              <a:rPr lang="en-IN" dirty="0">
                <a:latin typeface="+mn-lt"/>
              </a:rPr>
              <a:t>However, many existing approaches focus on individual technologies or specific infrastructure tasks rather than integrating them into a unified system</a:t>
            </a:r>
            <a:endParaRPr lang="en-US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21274" y="279790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349610" y="107330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4F4041-8131-3536-FDDF-513CA3ABA63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2655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21274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EADF6DB-6CFE-DDC5-997C-E84EE1A9470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A21C9ED-2DC6-8E75-8660-FD8B2DFDC2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408337"/>
              </p:ext>
            </p:extLst>
          </p:nvPr>
        </p:nvGraphicFramePr>
        <p:xfrm>
          <a:off x="1326146" y="1594386"/>
          <a:ext cx="10208127" cy="38936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709">
                  <a:extLst>
                    <a:ext uri="{9D8B030D-6E8A-4147-A177-3AD203B41FA5}">
                      <a16:colId xmlns:a16="http://schemas.microsoft.com/office/drawing/2014/main" val="846060959"/>
                    </a:ext>
                  </a:extLst>
                </a:gridCol>
                <a:gridCol w="3402709">
                  <a:extLst>
                    <a:ext uri="{9D8B030D-6E8A-4147-A177-3AD203B41FA5}">
                      <a16:colId xmlns:a16="http://schemas.microsoft.com/office/drawing/2014/main" val="575254993"/>
                    </a:ext>
                  </a:extLst>
                </a:gridCol>
                <a:gridCol w="3402709">
                  <a:extLst>
                    <a:ext uri="{9D8B030D-6E8A-4147-A177-3AD203B41FA5}">
                      <a16:colId xmlns:a16="http://schemas.microsoft.com/office/drawing/2014/main" val="144102737"/>
                    </a:ext>
                  </a:extLst>
                </a:gridCol>
              </a:tblGrid>
              <a:tr h="3766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Source</a:t>
                      </a:r>
                      <a:endParaRPr lang="en-IN" dirty="0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Contribution</a:t>
                      </a:r>
                      <a:endParaRPr lang="en-IN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Research Gap</a:t>
                      </a:r>
                      <a:endParaRPr lang="en-IN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2771393"/>
                  </a:ext>
                </a:extLst>
              </a:tr>
              <a:tr h="7034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Lewis et al., 2020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RAG for knowledge-intensive QA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No metro risk focus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7349857"/>
                  </a:ext>
                </a:extLst>
              </a:tr>
              <a:tr h="7034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Edge et al.,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Graph-based RAG reasoning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Limited infrastructure application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8587535"/>
                  </a:ext>
                </a:extLst>
              </a:tr>
              <a:tr h="7034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Li et al.,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LLM multi-agent systems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No metro multi-risk workflow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1199708"/>
                  </a:ext>
                </a:extLst>
              </a:tr>
              <a:tr h="7034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Maintenance AI studies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AI-based maintenance/risk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Limited complaint integration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9932648"/>
                  </a:ext>
                </a:extLst>
              </a:tr>
              <a:tr h="7034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Recent Agentic AI studies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Agents for maintenance decisions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Limited real-world metro validation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8722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996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328831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55996" y="947718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B9BEC8E-9AA8-44FB-2C83-E4409B2BF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732334"/>
              </p:ext>
            </p:extLst>
          </p:nvPr>
        </p:nvGraphicFramePr>
        <p:xfrm>
          <a:off x="2085837" y="1090830"/>
          <a:ext cx="9621567" cy="5386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7189">
                  <a:extLst>
                    <a:ext uri="{9D8B030D-6E8A-4147-A177-3AD203B41FA5}">
                      <a16:colId xmlns:a16="http://schemas.microsoft.com/office/drawing/2014/main" val="3464461683"/>
                    </a:ext>
                  </a:extLst>
                </a:gridCol>
                <a:gridCol w="3207189">
                  <a:extLst>
                    <a:ext uri="{9D8B030D-6E8A-4147-A177-3AD203B41FA5}">
                      <a16:colId xmlns:a16="http://schemas.microsoft.com/office/drawing/2014/main" val="2514311435"/>
                    </a:ext>
                  </a:extLst>
                </a:gridCol>
                <a:gridCol w="3207189">
                  <a:extLst>
                    <a:ext uri="{9D8B030D-6E8A-4147-A177-3AD203B41FA5}">
                      <a16:colId xmlns:a16="http://schemas.microsoft.com/office/drawing/2014/main" val="2997756228"/>
                    </a:ext>
                  </a:extLst>
                </a:gridCol>
              </a:tblGrid>
              <a:tr h="4266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Dataset</a:t>
                      </a:r>
                      <a:endParaRPr lang="en-IN" dirty="0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Tech Stack</a:t>
                      </a:r>
                      <a:endParaRPr lang="en-IN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Expected Outcomes</a:t>
                      </a:r>
                      <a:endParaRPr lang="en-IN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2736198"/>
                  </a:ext>
                </a:extLst>
              </a:tr>
              <a:tr h="61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CMRL Annual Reports (2020–21 to 2024–25)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Python, RAG, FAISS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Evidence-based information retrieval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5481466"/>
                  </a:ext>
                </a:extLst>
              </a:tr>
              <a:tr h="61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CMRL Maintenance &amp; Compliance Documents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PyPDF, NLP, SQLite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Maintenance &amp; compliance risk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21985369"/>
                  </a:ext>
                </a:extLst>
              </a:tr>
              <a:tr h="478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Operational / Asset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Pandas, SQL, 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Asset &amp; operational intelligence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926851"/>
                  </a:ext>
                </a:extLst>
              </a:tr>
              <a:tr h="61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Passenger / Employee Complaints </a:t>
                      </a:r>
                      <a:r>
                        <a:rPr lang="en-IN" i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(planned)</a:t>
                      </a:r>
                      <a:endParaRPr lang="en-IN" dirty="0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NLP, Vision, Video 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Complaint-to-asset identification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3844506"/>
                  </a:ext>
                </a:extLst>
              </a:tr>
              <a:tr h="61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Images &amp; Videos </a:t>
                      </a:r>
                      <a:r>
                        <a:rPr lang="en-IN" i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(planned)</a:t>
                      </a:r>
                      <a:endParaRPr lang="en-IN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Multimodal 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Visual infrastructure issue detection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5559175"/>
                  </a:ext>
                </a:extLst>
              </a:tr>
              <a:tr h="61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Integrated Knowledge 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LangGraph, Agents, Graph-RAG </a:t>
                      </a:r>
                      <a:r>
                        <a:rPr lang="en-IN" i="1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(planned)</a:t>
                      </a:r>
                      <a:endParaRPr lang="en-IN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Multi-agent risk reasoning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1815375"/>
                  </a:ext>
                </a:extLst>
              </a:tr>
              <a:tr h="61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Risk &amp; Decision Outputs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Python, LangGraph, Dashboard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Risk level, priority &amp; recommended actions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629569"/>
                  </a:ext>
                </a:extLst>
              </a:tr>
              <a:tr h="61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Reports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ReportLab, Dashboard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Explainable, auditable PDF reports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9094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9013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3933" y="1594385"/>
            <a:ext cx="10624338" cy="444565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   Module 1</a:t>
            </a:r>
            <a:r>
              <a:rPr lang="en-IN" dirty="0"/>
              <a:t>  CMRL Data Ingestion &amp; Extraction</a:t>
            </a:r>
          </a:p>
          <a:p>
            <a:pPr algn="just"/>
            <a:r>
              <a:rPr lang="en-IN" dirty="0"/>
              <a:t> 1.1 Document Collection: Collected real CMRL annual reports, maintenance documents, and compliance-related reports.</a:t>
            </a:r>
          </a:p>
          <a:p>
            <a:pPr algn="just"/>
            <a:r>
              <a:rPr lang="en-IN" dirty="0"/>
              <a:t> 1.2 PDF Inspection: Examined document pages, text availability, metadata, document years, and extraction quality.</a:t>
            </a:r>
          </a:p>
          <a:p>
            <a:pPr algn="just"/>
            <a:r>
              <a:rPr lang="en-IN" dirty="0"/>
              <a:t> 1.3 Text Extraction: Extracted textual content from CMRL PDF documents using PDF processing techniques.</a:t>
            </a:r>
          </a:p>
          <a:p>
            <a:pPr algn="just"/>
            <a:r>
              <a:rPr lang="en-IN" dirty="0"/>
              <a:t> 1.4 Data Organization: Organized annual reports and maintenance documents into structured folders for downstream processing.</a:t>
            </a:r>
          </a:p>
          <a:p>
            <a:pPr lvl="1" algn="just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 name - Calibri body -36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17709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851A-9FC8-D4B2-5527-0B2658966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8A7A93-073E-5B93-96E9-ABA15193D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2207" y="1594385"/>
            <a:ext cx="10303371" cy="444565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   Module 2: </a:t>
            </a:r>
            <a:r>
              <a:rPr lang="en-IN" dirty="0"/>
              <a:t>Document Processing &amp; Chunking</a:t>
            </a:r>
          </a:p>
          <a:p>
            <a:pPr algn="just"/>
            <a:r>
              <a:rPr lang="en-IN" dirty="0"/>
              <a:t>2.1 Text Cleaning: Removed unnecessary formatting, whitespace, and extraction artifacts from the extracted content.</a:t>
            </a:r>
          </a:p>
          <a:p>
            <a:pPr algn="just"/>
            <a:r>
              <a:rPr lang="en-IN" dirty="0"/>
              <a:t>2.2 Document Structuring: Preserved document names, page numbers, report years, and source information for traceability.</a:t>
            </a:r>
          </a:p>
          <a:p>
            <a:pPr algn="just"/>
            <a:r>
              <a:rPr lang="en-IN" dirty="0"/>
              <a:t>2.3 Text Chunking: Divided large CMRL documents into smaller meaningful text chunks for efficient retrieval.</a:t>
            </a:r>
          </a:p>
          <a:p>
            <a:pPr algn="just"/>
            <a:r>
              <a:rPr lang="en-IN" dirty="0"/>
              <a:t>2.4 Metadata Generation: Associated each chunk with its source document, page number, and relevant metadata.</a:t>
            </a:r>
          </a:p>
          <a:p>
            <a:pPr lvl="1" algn="just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9A3E0E-811A-2816-2E79-CFCB4D81248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 name - Calibri body -36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1E029C-238F-BFAE-5E22-30F1DAB6B86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8B935CD-86EB-FD6F-754B-5A583825BC35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85200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EFB45-1324-53CE-8782-426DCD655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F46BE8-9632-A66F-45C4-625D4EC87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2356" y="1594385"/>
            <a:ext cx="10624338" cy="444565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  Module 3: </a:t>
            </a:r>
            <a:r>
              <a:rPr lang="en-IN" dirty="0"/>
              <a:t>RAG-Based Evidence Retrieval</a:t>
            </a:r>
          </a:p>
          <a:p>
            <a:pPr algn="just"/>
            <a:r>
              <a:rPr lang="en-IN" dirty="0"/>
              <a:t>3.1 Query Processing: Processes infrastructure-related user queries concerning CMRL assets, maintenance, and operations.</a:t>
            </a:r>
          </a:p>
          <a:p>
            <a:pPr algn="just"/>
            <a:r>
              <a:rPr lang="en-IN" dirty="0"/>
              <a:t>3.2 Semantic Retrieval: Searches the processed CMRL knowledge base to identify relevant evidence for each query.</a:t>
            </a:r>
          </a:p>
          <a:p>
            <a:pPr algn="just"/>
            <a:r>
              <a:rPr lang="en-IN" dirty="0"/>
              <a:t>3.3 Evidence Ranking: Ranks retrieved document chunks according to their relevance to the user query.</a:t>
            </a:r>
          </a:p>
          <a:p>
            <a:pPr algn="just"/>
            <a:r>
              <a:rPr lang="en-IN" dirty="0"/>
              <a:t>3.4 Source Attribution: Provides the corresponding CMRL document and page information along with retrieved evidence.</a:t>
            </a:r>
          </a:p>
          <a:p>
            <a:pPr lvl="1" algn="just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50A6C1-92BF-6D22-3955-1DC66A84ABB9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 name - Calibri body -36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CE1AA47-C38B-5B6E-F142-D1C93AF8349B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E54D4A1-2BBF-EE38-AFF3-CFC2B9EE78E2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73685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D6ED7-13C7-BB9A-C13D-FE73451DC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2CFA8C-E21F-7A28-22C1-4B03C35372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0482" y="1372102"/>
            <a:ext cx="10624338" cy="444565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/>
              <a:t>  </a:t>
            </a: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Module 4: </a:t>
            </a:r>
            <a:r>
              <a:rPr lang="en-IN" dirty="0"/>
              <a:t>Infrastructure Risk Analysis</a:t>
            </a:r>
          </a:p>
          <a:p>
            <a:pPr algn="just"/>
            <a:r>
              <a:rPr lang="en-IN" dirty="0"/>
              <a:t>4.1 Risk Indicator Detection: Identifies maintenance, operational, failure, defect, safety, and service-related indicators from retrieved evidence.</a:t>
            </a:r>
          </a:p>
          <a:p>
            <a:pPr algn="just"/>
            <a:r>
              <a:rPr lang="en-IN" dirty="0"/>
              <a:t>4.2 Risk Classification: Classifies identified infrastructure issues into low, medium, or high risk levels.</a:t>
            </a:r>
          </a:p>
          <a:p>
            <a:pPr algn="just"/>
            <a:r>
              <a:rPr lang="en-IN" dirty="0"/>
              <a:t>4.3 Priority Assessment: Determines action priority based on the severity and frequency of identified risk indicators.</a:t>
            </a:r>
          </a:p>
          <a:p>
            <a:pPr algn="just"/>
            <a:r>
              <a:rPr lang="en-IN" dirty="0"/>
              <a:t>4.4 Recommendation Generation: Generates evidence-based recommendations for inspection, maintenance, monitoring, and corrective actions.</a:t>
            </a:r>
          </a:p>
          <a:p>
            <a:pPr lvl="1" algn="just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191B94-2C31-766A-F2C1-3DBFFEB3E71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 name - Calibri body -36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ADEC8-786E-3BEF-5CAB-20574824FDC3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678DD82-0926-3ADC-F628-8036227ED593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381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CBF11-577B-9B72-1BC1-0D50D7C48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6422F1-9793-7761-1EA7-49C76E5EDA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15452" y="1594385"/>
            <a:ext cx="10331241" cy="444565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  Module 5</a:t>
            </a:r>
            <a:r>
              <a:rPr lang="en-IN" dirty="0"/>
              <a:t>: Multi-Agent Risk Assessment</a:t>
            </a:r>
          </a:p>
          <a:p>
            <a:pPr algn="just"/>
            <a:r>
              <a:rPr lang="en-IN" dirty="0"/>
              <a:t>5.1 Document Agent: Retrieves relevant CMRL evidence and provides supporting information for downstream risk analysis.</a:t>
            </a:r>
          </a:p>
          <a:p>
            <a:pPr algn="just"/>
            <a:r>
              <a:rPr lang="en-IN" dirty="0"/>
              <a:t>5.2 Maintenance Agent: </a:t>
            </a:r>
            <a:r>
              <a:rPr lang="en-IN" dirty="0" err="1"/>
              <a:t>Analyzes</a:t>
            </a:r>
            <a:r>
              <a:rPr lang="en-IN" dirty="0"/>
              <a:t> maintenance-related evidence including repairs, inspections, failures, and replacement requirements.</a:t>
            </a:r>
          </a:p>
          <a:p>
            <a:pPr algn="just"/>
            <a:r>
              <a:rPr lang="en-IN" dirty="0"/>
              <a:t>5.3 Operational Agent: </a:t>
            </a:r>
            <a:r>
              <a:rPr lang="en-IN" dirty="0" err="1"/>
              <a:t>Analyzes</a:t>
            </a:r>
            <a:r>
              <a:rPr lang="en-IN" dirty="0"/>
              <a:t> operational indicators such as breakdowns, faults, service interruptions, and safety issues.</a:t>
            </a:r>
          </a:p>
          <a:p>
            <a:pPr algn="just"/>
            <a:r>
              <a:rPr lang="en-IN" dirty="0"/>
              <a:t>5.4 Decision Agent: Combines the outputs of specialized agents to determine overall risk, priority, findings, and recommendations.</a:t>
            </a:r>
          </a:p>
          <a:p>
            <a:pPr lvl="1" algn="just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5716B7-02C8-4A14-9DBD-CBC69CA90F73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 name - Calibri body -36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3804E87-2A9E-FF91-D12A-96A64A30F163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A4DA10F-7F51-167A-2DEA-B50240341E5E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10102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210D8-AF47-1D7B-849F-33DA9599E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F7F7F4-67E3-39BD-C803-4FE269B37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39449" y="1372102"/>
            <a:ext cx="10223161" cy="444565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  Module 6: </a:t>
            </a:r>
            <a:r>
              <a:rPr lang="en-IN" dirty="0" err="1"/>
              <a:t>LangGraph</a:t>
            </a:r>
            <a:r>
              <a:rPr lang="en-IN" dirty="0"/>
              <a:t> Agent Orchestration</a:t>
            </a:r>
          </a:p>
          <a:p>
            <a:pPr algn="just"/>
            <a:r>
              <a:rPr lang="en-IN" dirty="0"/>
              <a:t>6.1 Agent Workflow Design: Defines the structured workflow connecting document retrieval, specialized analysis, and decision-making agents.</a:t>
            </a:r>
          </a:p>
          <a:p>
            <a:pPr algn="just"/>
            <a:r>
              <a:rPr lang="en-IN" dirty="0"/>
              <a:t>6.2 State Management: Maintains queries, retrieved evidence, agent outputs, risk assessments, and recommendations throughout the workflow.</a:t>
            </a:r>
          </a:p>
          <a:p>
            <a:pPr algn="just"/>
            <a:r>
              <a:rPr lang="en-IN" dirty="0"/>
              <a:t>6.3 Agent Coordination: Coordinates specialized agents to </a:t>
            </a:r>
            <a:r>
              <a:rPr lang="en-IN" dirty="0" err="1"/>
              <a:t>analyze</a:t>
            </a:r>
            <a:r>
              <a:rPr lang="en-IN" dirty="0"/>
              <a:t> different infrastructure-risk dimensions within a unified pipeline.</a:t>
            </a:r>
          </a:p>
          <a:p>
            <a:pPr algn="just"/>
            <a:r>
              <a:rPr lang="en-IN" dirty="0"/>
              <a:t>6.4 Decision Routing: Routes agent outputs toward a final decision layer for consolidated risk assessment.</a:t>
            </a:r>
          </a:p>
          <a:p>
            <a:pPr algn="just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4336C2-D72A-AC78-9EFD-1D87EB421CB5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 name - Calibri body -36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89120D6-DE60-9D12-5CB3-6F5DE071D28A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882D91F-9FD0-2675-D9ED-68EEA59BE5A8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8969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18BB8-5209-620E-81D3-08E29858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4BAE77-EF03-5AA8-DAF1-A03D939B2C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14861" y="1234637"/>
            <a:ext cx="10624338" cy="444565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  Module 7</a:t>
            </a:r>
            <a:r>
              <a:rPr lang="en-IN" dirty="0"/>
              <a:t>: Multi-Dimensional Risk &amp; Complaint Intelligence</a:t>
            </a:r>
          </a:p>
          <a:p>
            <a:pPr algn="just"/>
            <a:r>
              <a:rPr lang="en-IN" dirty="0"/>
              <a:t>7.1 Risk Expansion: Extends analysis across equipment, safety, compliance, financial, service, and infrastructure-related risks.</a:t>
            </a:r>
          </a:p>
          <a:p>
            <a:pPr algn="just"/>
            <a:r>
              <a:rPr lang="en-IN" dirty="0"/>
              <a:t>7.2 Complaint Processing: Processes passenger and employee complaints to identify reported infrastructure problems and affected assets.</a:t>
            </a:r>
          </a:p>
          <a:p>
            <a:pPr algn="just"/>
            <a:r>
              <a:rPr lang="en-IN" dirty="0"/>
              <a:t>7.3 Multimodal Analysis: </a:t>
            </a:r>
            <a:r>
              <a:rPr lang="en-IN" dirty="0" err="1"/>
              <a:t>Analyzes</a:t>
            </a:r>
            <a:r>
              <a:rPr lang="en-IN" dirty="0"/>
              <a:t> complaint text, documents, images, and videos to extract relevant infrastructure issue information.</a:t>
            </a:r>
          </a:p>
          <a:p>
            <a:pPr algn="just"/>
            <a:r>
              <a:rPr lang="en-IN" dirty="0"/>
              <a:t>7.4 Complaint-to-Evidence Mapping: Links identified complaints with relevant assets, locations, maintenance records, and CMRL document evidence.</a:t>
            </a:r>
          </a:p>
          <a:p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7E773F-F8DF-4690-1A78-C8163EFDCED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 name - Calibri body -36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7397E73-12D4-A5EC-915A-8B41682032CB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59DC12D-BB47-4A96-FFCA-2F588E889BA5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05383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25CA-49D7-9499-E0DF-A9AF0713C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7FD9AC2-4CAE-62EA-CE45-ABE74B6083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0482" y="1234637"/>
            <a:ext cx="10624338" cy="444565"/>
          </a:xfrm>
        </p:spPr>
        <p:txBody>
          <a:bodyPr/>
          <a:lstStyle/>
          <a:p>
            <a:pPr algn="just"/>
            <a:r>
              <a:rPr lang="en-IN" dirty="0"/>
              <a:t>Module 8: Knowledge Graph, Dashboard &amp; Reporting</a:t>
            </a:r>
          </a:p>
          <a:p>
            <a:pPr algn="just"/>
            <a:r>
              <a:rPr lang="en-IN" dirty="0"/>
              <a:t>8.1 Knowledge Graph Construction: Represents relationships between stations, assets, complaints, maintenance records, failures, and supporting documents.</a:t>
            </a:r>
          </a:p>
          <a:p>
            <a:pPr algn="just"/>
            <a:r>
              <a:rPr lang="en-IN" dirty="0"/>
              <a:t>8.2 Graph-RAG Integration: Uses relationships between infrastructure entities and documents to improve contextual retrieval and reasoning.</a:t>
            </a:r>
          </a:p>
          <a:p>
            <a:pPr algn="just"/>
            <a:r>
              <a:rPr lang="en-IN" dirty="0"/>
              <a:t>8.3 Dashboard Development: Displays risk levels, priorities, findings, recommendations, and supporting evidence through an interactive interface.</a:t>
            </a:r>
          </a:p>
          <a:p>
            <a:pPr algn="just"/>
            <a:r>
              <a:rPr lang="en-IN" dirty="0"/>
              <a:t>8.4 Report Generation &amp; Evaluation: Generates auditable reports and evaluates retrieval, risk classification, and overall system performance.</a:t>
            </a:r>
          </a:p>
          <a:p>
            <a:pPr algn="just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41C272-EDB4-3312-C8F7-57AED94C9CAA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 name - Calibri body -36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9658BBB-6ADB-998F-6028-A9225C1FB50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EFF0302-D8BD-F333-85E6-A18B59E951EB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Project Title -  Calibri body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34850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708</TotalTime>
  <Words>2535</Words>
  <Application>Microsoft Office PowerPoint</Application>
  <PresentationFormat>Widescreen</PresentationFormat>
  <Paragraphs>255</Paragraphs>
  <Slides>29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Arial</vt:lpstr>
      <vt:lpstr>Calibri</vt:lpstr>
      <vt:lpstr>Calibri (Body)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Swetha S</cp:lastModifiedBy>
  <cp:revision>160</cp:revision>
  <dcterms:created xsi:type="dcterms:W3CDTF">2024-05-13T10:33:11Z</dcterms:created>
  <dcterms:modified xsi:type="dcterms:W3CDTF">2026-09-11T09:47:25Z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