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3" r:id="rId4"/>
    <p:sldId id="2147470494" r:id="rId5"/>
    <p:sldId id="2147470495" r:id="rId6"/>
    <p:sldId id="2147470496" r:id="rId7"/>
    <p:sldId id="2147470497" r:id="rId8"/>
    <p:sldId id="2147470491" r:id="rId9"/>
    <p:sldId id="2147470498" r:id="rId10"/>
    <p:sldId id="2147470499" r:id="rId11"/>
    <p:sldId id="2147470487" r:id="rId12"/>
    <p:sldId id="2147470500" r:id="rId13"/>
    <p:sldId id="214747050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1" d="100"/>
          <a:sy n="51" d="100"/>
        </p:scale>
        <p:origin x="172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microsoft.com/office/2007/relationships/hdphoto" Target="../media/hdphoto3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1"/>
            <a:ext cx="12254538" cy="6898126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811581" y="-33286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3333528" y="1077021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579434" y="1257830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692746" y="1724674"/>
            <a:ext cx="10806506" cy="581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Project Title 1: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algn="ctr">
              <a:defRPr/>
            </a:pPr>
            <a:r>
              <a:rPr lang="en-US" sz="3600" b="1" dirty="0" err="1">
                <a:solidFill>
                  <a:schemeClr val="bg1"/>
                </a:solidFill>
              </a:rPr>
              <a:t>AeroHydro</a:t>
            </a:r>
            <a:r>
              <a:rPr lang="en-US" sz="3600" b="1" dirty="0">
                <a:solidFill>
                  <a:schemeClr val="bg1"/>
                </a:solidFill>
              </a:rPr>
              <a:t>-PINN </a:t>
            </a:r>
            <a:r>
              <a:rPr lang="en-US" sz="3600" dirty="0">
                <a:solidFill>
                  <a:schemeClr val="bg1"/>
                </a:solidFill>
              </a:rPr>
              <a:t>Multimodal Physics-AI for Wake-Aware Hydrogen Optimization</a:t>
            </a:r>
          </a:p>
          <a:p>
            <a:pPr algn="ctr">
              <a:defRPr/>
            </a:pPr>
            <a:endParaRPr lang="en-US" sz="3600" dirty="0">
              <a:solidFill>
                <a:schemeClr val="bg1"/>
              </a:solidFill>
            </a:endParaRPr>
          </a:p>
          <a:p>
            <a:pPr lvl="0" algn="ctr">
              <a:defRPr/>
            </a:pPr>
            <a:endParaRPr lang="en-US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S.Swetha 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latin typeface="Frutiger 45 bold"/>
                <a:cs typeface="Calibri" panose="020F0502020204030204" pitchFamily="34" charset="0"/>
              </a:rPr>
              <a:t>VIT CHENNAI</a:t>
            </a: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9234421"/>
              </p:ext>
            </p:extLst>
          </p:nvPr>
        </p:nvGraphicFramePr>
        <p:xfrm>
          <a:off x="-47290" y="5501244"/>
          <a:ext cx="12239218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9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9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07192" y="1062936"/>
            <a:ext cx="10963534" cy="5859650"/>
          </a:xfrm>
        </p:spPr>
        <p:txBody>
          <a:bodyPr/>
          <a:lstStyle/>
          <a:p>
            <a:pPr algn="just">
              <a:lnSpc>
                <a:spcPct val="100000"/>
              </a:lnSpc>
            </a:pPr>
            <a:r>
              <a:rPr lang="en-IN" dirty="0">
                <a:solidFill>
                  <a:schemeClr val="accent1"/>
                </a:solidFill>
                <a:latin typeface="+mn-lt"/>
              </a:rPr>
              <a:t>Wind farms lose 10–40% of downstream turbine power to wake effects, directly reducing electricity available for green hydrogen electrolysis. </a:t>
            </a:r>
          </a:p>
          <a:p>
            <a:pPr algn="just">
              <a:lnSpc>
                <a:spcPct val="100000"/>
              </a:lnSpc>
            </a:pPr>
            <a:r>
              <a:rPr lang="en-IN" dirty="0">
                <a:solidFill>
                  <a:schemeClr val="accent1"/>
                </a:solidFill>
                <a:latin typeface="+mn-lt"/>
              </a:rPr>
              <a:t>Traditional CFD simulations that model this accurately take days to weeks, making real-time optimization impractical. </a:t>
            </a:r>
          </a:p>
          <a:p>
            <a:pPr algn="just">
              <a:lnSpc>
                <a:spcPct val="100000"/>
              </a:lnSpc>
            </a:pPr>
            <a:r>
              <a:rPr lang="en-IN" dirty="0" err="1">
                <a:solidFill>
                  <a:schemeClr val="accent1"/>
                </a:solidFill>
                <a:latin typeface="+mn-lt"/>
              </a:rPr>
              <a:t>AeroHydro</a:t>
            </a:r>
            <a:r>
              <a:rPr lang="en-IN" dirty="0">
                <a:solidFill>
                  <a:schemeClr val="accent1"/>
                </a:solidFill>
                <a:latin typeface="+mn-lt"/>
              </a:rPr>
              <a:t>-PINN solves this using a Physics-Informed Neural Network (PINN) — a model trained with real fluid-momentum physics built into its loss function </a:t>
            </a:r>
          </a:p>
          <a:p>
            <a:pPr algn="just">
              <a:lnSpc>
                <a:spcPct val="100000"/>
              </a:lnSpc>
            </a:pPr>
            <a:r>
              <a:rPr lang="en-IN" dirty="0">
                <a:solidFill>
                  <a:schemeClr val="accent1"/>
                </a:solidFill>
                <a:latin typeface="+mn-lt"/>
              </a:rPr>
              <a:t> Delivering CFD-quality wake awareness at millisecond inference speed, then feeding the result into a real electrolyzer model to estimate hydrogen yield.</a:t>
            </a:r>
            <a:endParaRPr lang="en-US" b="0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21274" y="416604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308956" y="1062935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661930-5628-0ABC-16F6-CC52710A6F41}"/>
              </a:ext>
            </a:extLst>
          </p:cNvPr>
          <p:cNvSpPr txBox="1"/>
          <p:nvPr/>
        </p:nvSpPr>
        <p:spPr>
          <a:xfrm>
            <a:off x="2198914" y="1643743"/>
            <a:ext cx="184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8479" y="1494177"/>
            <a:ext cx="11393209" cy="5126280"/>
          </a:xfrm>
        </p:spPr>
        <p:txBody>
          <a:bodyPr/>
          <a:lstStyle/>
          <a:p>
            <a:pPr algn="just">
              <a:lnSpc>
                <a:spcPct val="100000"/>
              </a:lnSpc>
            </a:pPr>
            <a:r>
              <a:rPr lang="en-IN" dirty="0"/>
              <a:t>Design and deploy an end-to-end pipeline that predicts wind turbine wake deficit and resulting hydrogen production in real-time, enabling operational optimization without relying on expensive CFD.</a:t>
            </a:r>
          </a:p>
          <a:p>
            <a:pPr lvl="0" algn="just">
              <a:lnSpc>
                <a:spcPct val="100000"/>
              </a:lnSpc>
            </a:pPr>
            <a:r>
              <a:rPr lang="en-IN" dirty="0"/>
              <a:t>Generate a physically valid wake dataset using a validated wake model (</a:t>
            </a:r>
            <a:r>
              <a:rPr lang="en-IN" dirty="0" err="1"/>
              <a:t>Bastankhah</a:t>
            </a:r>
            <a:r>
              <a:rPr lang="en-IN" dirty="0"/>
              <a:t>-Gaussian, via </a:t>
            </a:r>
            <a:r>
              <a:rPr lang="en-IN" dirty="0" err="1"/>
              <a:t>PyWake</a:t>
            </a:r>
            <a:r>
              <a:rPr lang="en-IN" dirty="0"/>
              <a:t>).To Train a PINN constrained by actuator-disk momentum conservation.</a:t>
            </a:r>
          </a:p>
          <a:p>
            <a:pPr lvl="0" algn="just">
              <a:lnSpc>
                <a:spcPct val="100000"/>
              </a:lnSpc>
            </a:pPr>
            <a:r>
              <a:rPr lang="en-IN" dirty="0"/>
              <a:t>Model hydrogen output using real PEM electrolyzer electrochemistry. Build an optimizer recommending turbine/electrolyzer spacing for max yield. Deploy as a containerized, cloud-hosted API.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6932" y="1346375"/>
            <a:ext cx="11055007" cy="4791377"/>
          </a:xfrm>
        </p:spPr>
        <p:txBody>
          <a:bodyPr/>
          <a:lstStyle/>
          <a:p>
            <a:pPr algn="just">
              <a:lnSpc>
                <a:spcPct val="100000"/>
              </a:lnSpc>
            </a:pPr>
            <a:r>
              <a:rPr lang="en-IN" dirty="0"/>
              <a:t>Wind-turbine-to-turbine wake modelling and its downstream impact on electrolytic hydrogen production; a PINN trained on analytical wake-model output, validated conceptually against real SCADA data trends (</a:t>
            </a:r>
            <a:r>
              <a:rPr lang="en-IN" dirty="0" err="1"/>
              <a:t>Kelmarsh</a:t>
            </a:r>
            <a:r>
              <a:rPr lang="en-IN" dirty="0"/>
              <a:t>, </a:t>
            </a:r>
            <a:r>
              <a:rPr lang="en-IN" dirty="0" err="1"/>
              <a:t>Penmanshiel</a:t>
            </a:r>
            <a:r>
              <a:rPr lang="en-IN" dirty="0"/>
              <a:t>); a physics-based hydrogen production model; a REST API and optimization endpoint.</a:t>
            </a:r>
          </a:p>
          <a:p>
            <a:pPr algn="just">
              <a:lnSpc>
                <a:spcPct val="100000"/>
              </a:lnSpc>
            </a:pPr>
            <a:r>
              <a:rPr lang="en-IN" dirty="0"/>
              <a:t>Full 3D CFD simulation (requires HPC infrastructure and weeks of compute — exactly the bottleneck this project avoids); ship-hull hydrodynamic wake CFD (no free dataset exists at that fidelity; would require a separate multi-month naval CFD campaign); real-time SCADA integration with a live wind farm (requires operational access this project doesn't have).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Scope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69C03-8E92-54D7-6EE2-33DC2B5C6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B433ECB-8EAD-0AB5-1D66-62BCF658AA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1656256" cy="4142989"/>
          </a:xfrm>
        </p:spPr>
        <p:txBody>
          <a:bodyPr/>
          <a:lstStyle/>
          <a:p>
            <a:pPr algn="just">
              <a:lnSpc>
                <a:spcPct val="100000"/>
              </a:lnSpc>
            </a:pPr>
            <a:r>
              <a:rPr lang="en-IN" dirty="0"/>
              <a:t>Jensen (1983) introduced the first analytical wake model; </a:t>
            </a:r>
            <a:r>
              <a:rPr lang="en-IN" dirty="0" err="1"/>
              <a:t>Bastankhah</a:t>
            </a:r>
            <a:r>
              <a:rPr lang="en-IN" dirty="0"/>
              <a:t> &amp; </a:t>
            </a:r>
            <a:r>
              <a:rPr lang="en-IN" dirty="0" err="1"/>
              <a:t>Porté</a:t>
            </a:r>
            <a:r>
              <a:rPr lang="en-IN" dirty="0"/>
              <a:t>-Agel (2014) improved it with a Gaussian deficit profile now used industry-wide (</a:t>
            </a:r>
            <a:r>
              <a:rPr lang="en-IN" dirty="0" err="1"/>
              <a:t>PyWake</a:t>
            </a:r>
            <a:r>
              <a:rPr lang="en-IN" dirty="0"/>
              <a:t>, FLORIS). </a:t>
            </a:r>
            <a:r>
              <a:rPr lang="en-IN" dirty="0" err="1"/>
              <a:t>Raissi</a:t>
            </a:r>
            <a:r>
              <a:rPr lang="en-IN" dirty="0"/>
              <a:t> et al. (2019) introduced Physics-Informed Neural Networks; </a:t>
            </a:r>
            <a:r>
              <a:rPr lang="en-IN" dirty="0" err="1"/>
              <a:t>Eivazi</a:t>
            </a:r>
            <a:r>
              <a:rPr lang="en-IN" dirty="0"/>
              <a:t> et al. (2022) applied PINNs to turbulent wake flows with CFD-comparable accuracy.</a:t>
            </a:r>
          </a:p>
          <a:p>
            <a:pPr algn="just">
              <a:lnSpc>
                <a:spcPct val="100000"/>
              </a:lnSpc>
            </a:pPr>
            <a:r>
              <a:rPr lang="en-IN" dirty="0"/>
              <a:t> Sanchez et al. (2020) published the PEM electrolyzer polarization curve used in NREL's H2A model; IRENA (2020) confirms wake losses materially affect green hydrogen cost. Gap: no public project combines a PINN wake surrogate with a physics-grounded hydrogen model in one deployable, real-time pipeline.</a:t>
            </a:r>
            <a:endParaRPr lang="en-US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B3663C-4C71-EB2A-170D-22878BAC4C6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Literature Review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91B76A7-3EE1-470C-EBA7-8F98E8FFE105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84F4041-8131-3536-FDDF-513CA3ABA63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765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53C69-472F-A80F-ECBC-553E043DB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7C2521A-B8A4-7818-FEB4-0309182DBECF}"/>
              </a:ext>
            </a:extLst>
          </p:cNvPr>
          <p:cNvSpPr txBox="1"/>
          <p:nvPr/>
        </p:nvSpPr>
        <p:spPr>
          <a:xfrm>
            <a:off x="221274" y="301230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Summary of Literature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6871527-EAED-D60A-DB4D-12A2CE4201DE}"/>
              </a:ext>
            </a:extLst>
          </p:cNvPr>
          <p:cNvCxnSpPr>
            <a:cxnSpLocks/>
          </p:cNvCxnSpPr>
          <p:nvPr/>
        </p:nvCxnSpPr>
        <p:spPr>
          <a:xfrm>
            <a:off x="221274" y="947561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EADF6DB-6CFE-DDC5-997C-E84EE1A9470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3AAA13D-D854-EBC6-17F9-2DD15DB51E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388861"/>
              </p:ext>
            </p:extLst>
          </p:nvPr>
        </p:nvGraphicFramePr>
        <p:xfrm>
          <a:off x="1828801" y="1052198"/>
          <a:ext cx="9519783" cy="54139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3261">
                  <a:extLst>
                    <a:ext uri="{9D8B030D-6E8A-4147-A177-3AD203B41FA5}">
                      <a16:colId xmlns:a16="http://schemas.microsoft.com/office/drawing/2014/main" val="1735180810"/>
                    </a:ext>
                  </a:extLst>
                </a:gridCol>
                <a:gridCol w="3173261">
                  <a:extLst>
                    <a:ext uri="{9D8B030D-6E8A-4147-A177-3AD203B41FA5}">
                      <a16:colId xmlns:a16="http://schemas.microsoft.com/office/drawing/2014/main" val="2659404131"/>
                    </a:ext>
                  </a:extLst>
                </a:gridCol>
                <a:gridCol w="3173261">
                  <a:extLst>
                    <a:ext uri="{9D8B030D-6E8A-4147-A177-3AD203B41FA5}">
                      <a16:colId xmlns:a16="http://schemas.microsoft.com/office/drawing/2014/main" val="1489074442"/>
                    </a:ext>
                  </a:extLst>
                </a:gridCol>
              </a:tblGrid>
              <a:tr h="6495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Source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Contribution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Relevance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1324621"/>
                  </a:ext>
                </a:extLst>
              </a:tr>
              <a:tr h="6495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Jensen (1983)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First analytical wake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Historical baseline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0054406"/>
                  </a:ext>
                </a:extLst>
              </a:tr>
              <a:tr h="6495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 err="1"/>
                        <a:t>Bastankhah</a:t>
                      </a:r>
                      <a:r>
                        <a:rPr lang="en-IN" sz="2400" dirty="0"/>
                        <a:t> &amp; </a:t>
                      </a:r>
                      <a:r>
                        <a:rPr lang="en-IN" sz="2400" dirty="0" err="1"/>
                        <a:t>Porté</a:t>
                      </a:r>
                      <a:r>
                        <a:rPr lang="en-IN" sz="2400" dirty="0"/>
                        <a:t>-Agel (2014)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Gaussian wake deficit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Used via </a:t>
                      </a:r>
                      <a:r>
                        <a:rPr lang="en-IN" sz="2400" dirty="0" err="1"/>
                        <a:t>PyWake</a:t>
                      </a:r>
                      <a:r>
                        <a:rPr lang="en-IN" sz="2400" dirty="0"/>
                        <a:t> for training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0920612"/>
                  </a:ext>
                </a:extLst>
              </a:tr>
              <a:tr h="6495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 err="1"/>
                        <a:t>Raissi</a:t>
                      </a:r>
                      <a:r>
                        <a:rPr lang="en-IN" sz="2400" dirty="0"/>
                        <a:t> et al. (2019)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Introduced PINNs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Core methodology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814533"/>
                  </a:ext>
                </a:extLst>
              </a:tr>
              <a:tr h="6495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Eivazi et al. (2022)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PINNs on turbulent wakes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Validates approach feasibility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5862758"/>
                  </a:ext>
                </a:extLst>
              </a:tr>
              <a:tr h="6495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Sanchez et al. (2020)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PEM electrolyzer polarization curve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Used in hydrogen module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5945068"/>
                  </a:ext>
                </a:extLst>
              </a:tr>
              <a:tr h="6495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IRENA (2020)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Green hydrogen cost economics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Motivates wake-aware optimization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36724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4703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5" y="1271219"/>
            <a:ext cx="11468367" cy="4142989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IN" dirty="0"/>
              <a:t>A plain neural network can violate real physics in sparsely-sampled regions (e.g., predicting deficit that increases with distance); the physics-residual loss in this project prevents that. </a:t>
            </a:r>
          </a:p>
          <a:p>
            <a:pPr algn="just">
              <a:lnSpc>
                <a:spcPct val="150000"/>
              </a:lnSpc>
            </a:pPr>
            <a:r>
              <a:rPr lang="en-IN" dirty="0" err="1"/>
              <a:t>PyWake's</a:t>
            </a:r>
            <a:r>
              <a:rPr lang="en-IN" dirty="0"/>
              <a:t> wake models are peer-reviewed and validated against real SCADA data by DTU Wind Energy — the same class of model used in commercial wind farm assessments. The full pipeline trains and runs in under 15 minutes on a standard CPU, needing no GPU or cloud credits.</a:t>
            </a:r>
            <a:endParaRPr lang="en-US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Additional Information…. Calibri body -36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44511" y="1105857"/>
            <a:ext cx="11581100" cy="4142989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Module 1 : </a:t>
            </a:r>
            <a:r>
              <a:rPr lang="en-IN" dirty="0">
                <a:latin typeface="+mn-lt"/>
              </a:rPr>
              <a:t>Wake Physics Data Generation</a:t>
            </a:r>
          </a:p>
          <a:p>
            <a:r>
              <a:rPr lang="en-IN" dirty="0">
                <a:latin typeface="+mn-lt"/>
              </a:rPr>
              <a:t>Simulates realistic wake </a:t>
            </a:r>
            <a:r>
              <a:rPr lang="en-IN" dirty="0" err="1">
                <a:latin typeface="+mn-lt"/>
              </a:rPr>
              <a:t>behavior</a:t>
            </a:r>
            <a:r>
              <a:rPr lang="en-IN" dirty="0">
                <a:latin typeface="+mn-lt"/>
              </a:rPr>
              <a:t> across the Horns Rev 1 wind farm using </a:t>
            </a:r>
            <a:r>
              <a:rPr lang="en-IN" dirty="0" err="1">
                <a:latin typeface="+mn-lt"/>
              </a:rPr>
              <a:t>PyWake</a:t>
            </a:r>
            <a:r>
              <a:rPr lang="en-IN" dirty="0">
                <a:latin typeface="+mn-lt"/>
              </a:rPr>
              <a:t>, producing the </a:t>
            </a:r>
            <a:r>
              <a:rPr lang="en-IN" dirty="0" err="1">
                <a:latin typeface="+mn-lt"/>
              </a:rPr>
              <a:t>labeled</a:t>
            </a:r>
            <a:r>
              <a:rPr lang="en-IN" dirty="0">
                <a:latin typeface="+mn-lt"/>
              </a:rPr>
              <a:t> training data for the PINN.</a:t>
            </a:r>
          </a:p>
          <a:p>
            <a:pPr lvl="0"/>
            <a:r>
              <a:rPr lang="en-IN" dirty="0">
                <a:latin typeface="+mn-lt"/>
              </a:rPr>
              <a:t>1.1 Site &amp; turbine setup: Horns Rev 1 layout + V80 turbine specs (real, published).</a:t>
            </a:r>
          </a:p>
          <a:p>
            <a:pPr lvl="0"/>
            <a:r>
              <a:rPr lang="en-IN" dirty="0">
                <a:latin typeface="+mn-lt"/>
              </a:rPr>
              <a:t>1.2 Wind sweep design: 72 directions × 15 speeds = 1,080 scenarios.</a:t>
            </a:r>
          </a:p>
          <a:p>
            <a:pPr lvl="0"/>
            <a:r>
              <a:rPr lang="en-IN" dirty="0">
                <a:latin typeface="+mn-lt"/>
              </a:rPr>
              <a:t>1.3 Wake computation: </a:t>
            </a:r>
            <a:r>
              <a:rPr lang="en-IN" dirty="0" err="1">
                <a:latin typeface="+mn-lt"/>
              </a:rPr>
              <a:t>Bastankhah</a:t>
            </a:r>
            <a:r>
              <a:rPr lang="en-IN" dirty="0">
                <a:latin typeface="+mn-lt"/>
              </a:rPr>
              <a:t>-Gaussian model run per turbine per scenario.</a:t>
            </a:r>
          </a:p>
          <a:p>
            <a:pPr lvl="0"/>
            <a:r>
              <a:rPr lang="en-IN" dirty="0">
                <a:latin typeface="+mn-lt"/>
              </a:rPr>
              <a:t>1.4 Dataset export: CSV with position, wind condition, deficit, power, turbulence</a:t>
            </a:r>
          </a:p>
          <a:p>
            <a:pPr marL="0" indent="0">
              <a:lnSpc>
                <a:spcPct val="150000"/>
              </a:lnSpc>
              <a:buNone/>
            </a:pPr>
            <a:endParaRPr lang="en-US" dirty="0">
              <a:solidFill>
                <a:srgbClr val="5583D1"/>
              </a:solidFill>
              <a:latin typeface="+mn-lt"/>
            </a:endParaRPr>
          </a:p>
          <a:p>
            <a:pPr marL="0" indent="0">
              <a:lnSpc>
                <a:spcPct val="150000"/>
              </a:lnSpc>
              <a:buNone/>
            </a:pPr>
            <a:endParaRPr lang="en-IN" dirty="0"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Modules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CD5B67-3503-60B5-8469-F3C3191D84D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D4A0452-2CB8-E4C6-FAC7-ECD109C50CE1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364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7DC75-9451-1A6F-64AD-B2E02EDAF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3738A70-D1EA-DAED-C0EC-DD43AC8FC9B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8834" y="1523255"/>
            <a:ext cx="12370240" cy="4142989"/>
          </a:xfrm>
        </p:spPr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 2.  Module 2</a:t>
            </a:r>
            <a:r>
              <a:rPr lang="en-IN" dirty="0">
                <a:latin typeface="+mn-lt"/>
              </a:rPr>
              <a:t>: Physics-Informed Neural Network</a:t>
            </a:r>
          </a:p>
          <a:p>
            <a:r>
              <a:rPr lang="en-IN" dirty="0">
                <a:latin typeface="+mn-lt"/>
              </a:rPr>
              <a:t>Learns wake deficit from data while respecting real momentum-conservation physics.</a:t>
            </a:r>
          </a:p>
          <a:p>
            <a:pPr lvl="0"/>
            <a:r>
              <a:rPr lang="en-IN" dirty="0">
                <a:latin typeface="+mn-lt"/>
              </a:rPr>
              <a:t>2.1 Architecture: 4-layer fully-connected network, Tanh activations.</a:t>
            </a:r>
          </a:p>
          <a:p>
            <a:pPr lvl="0"/>
            <a:r>
              <a:rPr lang="en-IN" dirty="0">
                <a:latin typeface="+mn-lt"/>
              </a:rPr>
              <a:t>2.2 Data loss: Supervised MSE against </a:t>
            </a:r>
            <a:r>
              <a:rPr lang="en-IN" dirty="0" err="1">
                <a:latin typeface="+mn-lt"/>
              </a:rPr>
              <a:t>PyWake</a:t>
            </a:r>
            <a:r>
              <a:rPr lang="en-IN" dirty="0">
                <a:latin typeface="+mn-lt"/>
              </a:rPr>
              <a:t> output.</a:t>
            </a:r>
          </a:p>
          <a:p>
            <a:pPr lvl="0"/>
            <a:r>
              <a:rPr lang="en-IN" dirty="0">
                <a:latin typeface="+mn-lt"/>
              </a:rPr>
              <a:t>2.3 Physics loss: Momentum-conservation residual via </a:t>
            </a:r>
            <a:r>
              <a:rPr lang="en-IN" dirty="0" err="1">
                <a:latin typeface="+mn-lt"/>
              </a:rPr>
              <a:t>autograd</a:t>
            </a:r>
            <a:r>
              <a:rPr lang="en-IN" dirty="0">
                <a:latin typeface="+mn-lt"/>
              </a:rPr>
              <a:t>.</a:t>
            </a:r>
          </a:p>
          <a:p>
            <a:pPr lvl="0"/>
            <a:r>
              <a:rPr lang="en-IN" dirty="0">
                <a:latin typeface="+mn-lt"/>
              </a:rPr>
              <a:t>2.4 Training loop: Combined loss, Adam optimizer, validation tracking.</a:t>
            </a:r>
          </a:p>
          <a:p>
            <a:pPr lvl="0"/>
            <a:r>
              <a:rPr lang="en-IN" dirty="0">
                <a:latin typeface="+mn-lt"/>
              </a:rPr>
              <a:t>2.5 Checkpointing: Best model saved automatically.</a:t>
            </a:r>
          </a:p>
          <a:p>
            <a:pPr marL="0" indent="0">
              <a:lnSpc>
                <a:spcPct val="150000"/>
              </a:lnSpc>
              <a:buNone/>
            </a:pPr>
            <a:endParaRPr lang="en-IN" dirty="0"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93618F-DDC4-2A51-DDC8-B4FA4F3A0066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Modules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037B8DD-449E-77E9-B2DC-BF531F11F5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19F6D17-B306-B33C-4E2E-A1D5E560114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13181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7B6F4-72C0-D7B8-D7FB-0EACBB1E8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AED3DC8-0342-9B51-450A-1B6FCBBE400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8834" y="1523255"/>
            <a:ext cx="12370240" cy="4142989"/>
          </a:xfrm>
        </p:spPr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IN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3. Module 3</a:t>
            </a:r>
            <a:r>
              <a:rPr lang="en-IN" dirty="0">
                <a:latin typeface="+mn-lt"/>
              </a:rPr>
              <a:t>: Hydrogen Production Modelling</a:t>
            </a:r>
          </a:p>
          <a:p>
            <a:r>
              <a:rPr lang="en-IN" dirty="0">
                <a:latin typeface="+mn-lt"/>
              </a:rPr>
              <a:t>Converts predicted turbine power into hydrogen output using real electrochemistry.</a:t>
            </a:r>
          </a:p>
          <a:p>
            <a:pPr lvl="0"/>
            <a:r>
              <a:rPr lang="en-IN" dirty="0">
                <a:latin typeface="+mn-lt"/>
              </a:rPr>
              <a:t>3.1 Polarization curve: Published PEM voltage-current equation.</a:t>
            </a:r>
          </a:p>
          <a:p>
            <a:pPr lvl="0"/>
            <a:r>
              <a:rPr lang="en-IN" dirty="0">
                <a:latin typeface="+mn-lt"/>
              </a:rPr>
              <a:t>3.2 Current solver: Bisection method finds operating point.</a:t>
            </a:r>
          </a:p>
          <a:p>
            <a:pPr lvl="0"/>
            <a:r>
              <a:rPr lang="en-IN" dirty="0">
                <a:latin typeface="+mn-lt"/>
              </a:rPr>
              <a:t>3.3 Faraday's law: Converts current to hydrogen mass flow.</a:t>
            </a:r>
          </a:p>
          <a:p>
            <a:pPr lvl="0"/>
            <a:r>
              <a:rPr lang="en-IN" dirty="0">
                <a:latin typeface="+mn-lt"/>
              </a:rPr>
              <a:t>3.4 Stack sizing: Scaled to realistic multi-MW turbine output.</a:t>
            </a:r>
          </a:p>
          <a:p>
            <a:pPr marL="0" indent="0">
              <a:lnSpc>
                <a:spcPct val="150000"/>
              </a:lnSpc>
              <a:buNone/>
            </a:pPr>
            <a:endParaRPr lang="en-IN" dirty="0"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6357CA-2E28-A018-A50E-A264714B5E2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Modules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866E3DB-AC48-B0B3-770E-FF72B367924E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9A7C6EE-8591-4881-7F43-192D2D973156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86849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81724" y="1594385"/>
            <a:ext cx="10624338" cy="444565"/>
          </a:xfrm>
        </p:spPr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4. Module 4</a:t>
            </a:r>
            <a:r>
              <a:rPr lang="en-IN" dirty="0">
                <a:latin typeface="+mn-lt"/>
              </a:rPr>
              <a:t>: Optimization Layer</a:t>
            </a:r>
          </a:p>
          <a:p>
            <a:r>
              <a:rPr lang="en-IN" dirty="0">
                <a:latin typeface="+mn-lt"/>
              </a:rPr>
              <a:t>Recommends turbine spacing to maximize hydrogen yield.</a:t>
            </a:r>
          </a:p>
          <a:p>
            <a:pPr lvl="0"/>
            <a:r>
              <a:rPr lang="en-IN" dirty="0">
                <a:latin typeface="+mn-lt"/>
              </a:rPr>
              <a:t>4.1 Candidate evaluation: Tests multiple spacing options via the PINN.</a:t>
            </a:r>
          </a:p>
          <a:p>
            <a:pPr lvl="0"/>
            <a:r>
              <a:rPr lang="en-IN" dirty="0">
                <a:latin typeface="+mn-lt"/>
              </a:rPr>
              <a:t>4.2 Yield-per-area metric: Normalizes output by spacing used.</a:t>
            </a:r>
          </a:p>
          <a:p>
            <a:pPr lvl="0"/>
            <a:r>
              <a:rPr lang="en-IN" dirty="0">
                <a:latin typeface="+mn-lt"/>
              </a:rPr>
              <a:t>4.3 Recommendation: Selects the best-performing configuration.</a:t>
            </a:r>
          </a:p>
          <a:p>
            <a:pPr lvl="1"/>
            <a:endParaRPr lang="en-US" dirty="0">
              <a:solidFill>
                <a:srgbClr val="1C3898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7" name="Slide Zoom 6">
                <a:extLst>
                  <a:ext uri="{FF2B5EF4-FFF2-40B4-BE49-F238E27FC236}">
                    <a16:creationId xmlns:a16="http://schemas.microsoft.com/office/drawing/2014/main" id="{AAC4CB15-0C9A-4824-2AC5-A627F619629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935306517"/>
                  </p:ext>
                </p:extLst>
              </p:nvPr>
            </p:nvGraphicFramePr>
            <p:xfrm>
              <a:off x="-5308156" y="5049641"/>
              <a:ext cx="3048000" cy="1714500"/>
            </p:xfrm>
            <a:graphic>
              <a:graphicData uri="http://schemas.microsoft.com/office/powerpoint/2016/slidezoom">
                <pslz:sldZm>
                  <pslz:sldZmObj sldId="2147470487" cId="3377586287">
                    <pslz:zmPr id="{60FAE517-0E0D-437D-A885-50689298605F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7" name="Slide Zoom 6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AAC4CB15-0C9A-4824-2AC5-A627F619629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-5308156" y="5049641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F5B8F-9597-0D84-6283-D5E1A9D7A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2C4D56C-ED79-451E-8862-92556FEB6BB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81724" y="1594385"/>
            <a:ext cx="10624338" cy="444565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   </a:t>
            </a:r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5  .Module 5</a:t>
            </a:r>
            <a:r>
              <a:rPr lang="en-IN" dirty="0"/>
              <a:t>: Deployment and Service Layer</a:t>
            </a:r>
          </a:p>
          <a:p>
            <a:r>
              <a:rPr lang="en-IN" dirty="0"/>
              <a:t>Makes the pipeline usable as a real, callable service.</a:t>
            </a:r>
          </a:p>
          <a:p>
            <a:pPr lvl="0"/>
            <a:r>
              <a:rPr lang="en-IN" dirty="0"/>
              <a:t>5.1 API endpoints: /health, /predict/wake, /optimize/spacing.</a:t>
            </a:r>
          </a:p>
          <a:p>
            <a:pPr lvl="0"/>
            <a:r>
              <a:rPr lang="en-IN" dirty="0"/>
              <a:t>5.2 Validation: </a:t>
            </a:r>
            <a:r>
              <a:rPr lang="en-IN" dirty="0" err="1"/>
              <a:t>Pydantic</a:t>
            </a:r>
            <a:r>
              <a:rPr lang="en-IN" dirty="0"/>
              <a:t> schemas for all requests.</a:t>
            </a:r>
          </a:p>
          <a:p>
            <a:pPr lvl="0"/>
            <a:r>
              <a:rPr lang="en-IN" dirty="0"/>
              <a:t>5.3 Containerization: </a:t>
            </a:r>
            <a:r>
              <a:rPr lang="en-IN" dirty="0" err="1"/>
              <a:t>Dockerfile</a:t>
            </a:r>
            <a:r>
              <a:rPr lang="en-IN" dirty="0"/>
              <a:t> for portable deployment.</a:t>
            </a:r>
          </a:p>
          <a:p>
            <a:pPr lvl="0"/>
            <a:r>
              <a:rPr lang="en-IN" dirty="0"/>
              <a:t>5.4 Cloud deployment: Railway configuration included.</a:t>
            </a:r>
          </a:p>
          <a:p>
            <a:pPr lvl="0"/>
            <a:r>
              <a:rPr lang="en-IN" dirty="0"/>
              <a:t>5.5 Testing: Postman collection for all endpoints.</a:t>
            </a:r>
          </a:p>
          <a:p>
            <a:pPr lvl="1"/>
            <a:endParaRPr lang="en-US" dirty="0">
              <a:solidFill>
                <a:srgbClr val="1C3898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F44813-D55B-9B74-D794-A490A8D50A1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A994DE4-08F1-8885-4100-0D5F32E8873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9287F11-42BB-6CF3-8772-B7D08CDB85EC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7" name="Slide Zoom 6">
                <a:extLst>
                  <a:ext uri="{FF2B5EF4-FFF2-40B4-BE49-F238E27FC236}">
                    <a16:creationId xmlns:a16="http://schemas.microsoft.com/office/drawing/2014/main" id="{1ADBC82C-6BDA-4260-2829-A1BEDB6D53A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5308156" y="5049641"/>
              <a:ext cx="3048000" cy="1714500"/>
            </p:xfrm>
            <a:graphic>
              <a:graphicData uri="http://schemas.microsoft.com/office/powerpoint/2016/slidezoom">
                <pslz:sldZm>
                  <pslz:sldZmObj sldId="2147470487" cId="3377586287">
                    <pslz:zmPr id="{60FAE517-0E0D-437D-A885-50689298605F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7" name="Slide Zoom 6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1ADBC82C-6BDA-4260-2829-A1BEDB6D53A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-5308156" y="5049641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917370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B4DC4-83E6-D482-9645-BAAFDE52D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878C497-5B79-9646-D388-2D62AC982D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81724" y="1594385"/>
            <a:ext cx="10624338" cy="444565"/>
          </a:xfrm>
        </p:spPr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 6 . Module 6</a:t>
            </a:r>
            <a:r>
              <a:rPr lang="en-IN" dirty="0"/>
              <a:t>: Validation and Evaluation</a:t>
            </a:r>
          </a:p>
          <a:p>
            <a:r>
              <a:rPr lang="en-IN" dirty="0"/>
              <a:t>Confirms accuracy and physical trustworthiness before use.</a:t>
            </a:r>
          </a:p>
          <a:p>
            <a:pPr lvl="0"/>
            <a:r>
              <a:rPr lang="en-IN" dirty="0"/>
              <a:t>6.1 Cross-validation: Held-out scenario MSE.</a:t>
            </a:r>
          </a:p>
          <a:p>
            <a:pPr lvl="0"/>
            <a:r>
              <a:rPr lang="en-IN" dirty="0"/>
              <a:t>6.2 Physical plausibility: Checks monotonicity and energy conservation.</a:t>
            </a:r>
          </a:p>
          <a:p>
            <a:pPr lvl="0"/>
            <a:r>
              <a:rPr lang="en-IN" dirty="0"/>
              <a:t>6.3 Real-data comparison (optional): Trend check against </a:t>
            </a:r>
            <a:r>
              <a:rPr lang="en-IN" dirty="0" err="1"/>
              <a:t>Kelmarsh</a:t>
            </a:r>
            <a:r>
              <a:rPr lang="en-IN" dirty="0"/>
              <a:t>/</a:t>
            </a:r>
            <a:r>
              <a:rPr lang="en-IN" dirty="0" err="1"/>
              <a:t>Penmanshiel</a:t>
            </a:r>
            <a:r>
              <a:rPr lang="en-IN" dirty="0"/>
              <a:t> SCADA data.</a:t>
            </a:r>
          </a:p>
          <a:p>
            <a:pPr lvl="1"/>
            <a:endParaRPr lang="en-US" dirty="0">
              <a:solidFill>
                <a:srgbClr val="1C3898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B07367-F1E3-BE31-4D9C-7A6F25EA6B7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A27B955-06C1-B66F-642D-9807DF2339C5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58B52D6-D719-2481-E16A-E94FFCB26E3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7" name="Slide Zoom 6">
                <a:extLst>
                  <a:ext uri="{FF2B5EF4-FFF2-40B4-BE49-F238E27FC236}">
                    <a16:creationId xmlns:a16="http://schemas.microsoft.com/office/drawing/2014/main" id="{216366FC-B4EB-2895-96B7-2EF70A3C6AC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5308156" y="5049641"/>
              <a:ext cx="3048000" cy="1714500"/>
            </p:xfrm>
            <a:graphic>
              <a:graphicData uri="http://schemas.microsoft.com/office/powerpoint/2016/slidezoom">
                <pslz:sldZm>
                  <pslz:sldZmObj sldId="2147470487" cId="3377586287">
                    <pslz:zmPr id="{60FAE517-0E0D-437D-A885-50689298605F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7" name="Slide Zoom 6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216366FC-B4EB-2895-96B7-2EF70A3C6AC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-5308156" y="5049641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052405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383</TotalTime>
  <Words>1069</Words>
  <Application>Microsoft Office PowerPoint</Application>
  <PresentationFormat>Widescreen</PresentationFormat>
  <Paragraphs>111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(Body)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Thara T</cp:lastModifiedBy>
  <cp:revision>51</cp:revision>
  <dcterms:created xsi:type="dcterms:W3CDTF">2024-05-13T10:33:11Z</dcterms:created>
  <dcterms:modified xsi:type="dcterms:W3CDTF">2026-09-06T18:08:45Z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